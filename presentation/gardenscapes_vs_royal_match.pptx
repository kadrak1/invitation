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394960"/>
            <a:ext cx="14173200" cy="1828800"/>
          </a:xfrm>
          <a:prstGeom prst="rect">
            <a:avLst/>
          </a:prstGeom>
          <a:solidFill>
            <a:srgbClr val="2A3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1005840"/>
            <a:ext cx="3749039" cy="3749039"/>
          </a:xfrm>
          <a:prstGeom prst="ellipse">
            <a:avLst/>
          </a:prstGeom>
          <a:solidFill>
            <a:srgbClr val="2A3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-320040"/>
            <a:ext cx="1920240" cy="1920240"/>
          </a:xfrm>
          <a:prstGeom prst="ellipse">
            <a:avLst/>
          </a:prstGeom>
          <a:solidFill>
            <a:srgbClr val="E0A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3886200" cy="310896"/>
          </a:xfrm>
          <a:prstGeom prst="roundRect">
            <a:avLst>
              <a:gd name="adj" fmla="val 50000"/>
            </a:avLst>
          </a:prstGeom>
          <a:solidFill>
            <a:srgbClr val="E0A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50" b="1">
                <a:solidFill>
                  <a:srgbClr val="1F2A44"/>
                </a:solidFill>
                <a:latin typeface="Arial"/>
              </a:rPr>
              <a:t>ТЕСТОВОЕ ЗАДАНИЕ · JUNIOR GAME DESIGNER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106984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600" b="1" i="0">
                <a:solidFill>
                  <a:srgbClr val="8FD6A4"/>
                </a:solidFill>
                <a:latin typeface="Arial"/>
              </a:rPr>
              <a:t>Gardenscapes </a:t>
            </a:r>
            <a:r>
              <a:rPr sz="4600" b="0" i="0">
                <a:solidFill>
                  <a:srgbClr val="B9C3D9"/>
                </a:solidFill>
                <a:latin typeface="Arial"/>
              </a:rPr>
              <a:t>vs </a:t>
            </a:r>
            <a:r>
              <a:rPr sz="4600" b="1" i="0">
                <a:solidFill>
                  <a:srgbClr val="9DBCF5"/>
                </a:solidFill>
                <a:latin typeface="Arial"/>
              </a:rPr>
              <a:t>Royal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9966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 i="0">
                <a:solidFill>
                  <a:srgbClr val="D8DDE9"/>
                </a:solidFill>
                <a:latin typeface="Arial"/>
              </a:rPr>
              <a:t>Сравнительный анализ дизайн-решений, механик и точек роста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" y="3813048"/>
            <a:ext cx="2011680" cy="38100"/>
          </a:xfrm>
          <a:prstGeom prst="rect">
            <a:avLst/>
          </a:prstGeom>
          <a:solidFill>
            <a:srgbClr val="E0A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05072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 i="0">
                <a:solidFill>
                  <a:srgbClr val="9AA5C0"/>
                </a:solidFill>
                <a:latin typeface="Arial"/>
              </a:rPr>
              <a:t>Фокус: личный игровой опыт, удержание, основной цикл, live-ops и монетизация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97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8E99B5"/>
                </a:solidFill>
                <a:latin typeface="Arial"/>
              </a:rPr>
              <a:t>Кандидат: [Ваше имя]   ·   Playrix   ·   июль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2673705" cy="310896"/>
          </a:xfrm>
          <a:prstGeom prst="roundRect">
            <a:avLst>
              <a:gd name="adj" fmla="val 50000"/>
            </a:avLst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 · УДЕРЖАНИЕ И ВОВЛЕЧЕНИЕ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1F2A44"/>
                </a:solidFill>
                <a:latin typeface="Arial"/>
              </a:rPr>
              <a:t>Сильнейшие крючки Gardenscapes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07592"/>
            <a:ext cx="1234440" cy="3810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532120" cy="4526280"/>
          </a:xfrm>
          <a:prstGeom prst="roundRect">
            <a:avLst>
              <a:gd name="adj" fmla="val 5000"/>
            </a:avLst>
          </a:prstGeom>
          <a:solidFill>
            <a:srgbClr val="E3F1E6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73152" cy="452628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3352"/>
            <a:ext cx="51480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2F8F4E"/>
                </a:solidFill>
                <a:latin typeface="Arial"/>
              </a:rPr>
              <a:t>Почему игрок возвращается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120640" cy="3904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40" b="1" i="0">
                <a:solidFill>
                  <a:srgbClr val="2F8F4E"/>
                </a:solidFill>
                <a:latin typeface="Arial"/>
              </a:rPr>
              <a:t>▪  </a:t>
            </a:r>
            <a:r>
              <a:rPr sz="1040" b="1" i="0">
                <a:solidFill>
                  <a:srgbClr val="1F2A44"/>
                </a:solidFill>
                <a:latin typeface="Arial"/>
              </a:rPr>
              <a:t>Восстановление, а не постройка</a:t>
            </a:r>
            <a:r>
              <a:rPr sz="1040" b="0" i="0">
                <a:solidFill>
                  <a:srgbClr val="1F2A44"/>
                </a:solidFill>
                <a:latin typeface="Arial"/>
              </a:rPr>
              <a:t> — контраст «до/после» усиливает ценность труда; 3 варианта оформления дают самовыражение и чувство собственности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40" b="1" i="0">
                <a:solidFill>
                  <a:srgbClr val="2F8F4E"/>
                </a:solidFill>
                <a:latin typeface="Arial"/>
              </a:rPr>
              <a:t>▪  </a:t>
            </a:r>
            <a:r>
              <a:rPr sz="1040" b="1" i="0">
                <a:solidFill>
                  <a:srgbClr val="1F2A44"/>
                </a:solidFill>
                <a:latin typeface="Arial"/>
              </a:rPr>
              <a:t>Сюжет и жизнь персонажей</a:t>
            </a:r>
            <a:r>
              <a:rPr sz="1040" b="0" i="0">
                <a:solidFill>
                  <a:srgbClr val="1F2A44"/>
                </a:solidFill>
                <a:latin typeface="Arial"/>
              </a:rPr>
              <a:t> — эмоциональная привязанность; клиффхэнгер в конце дня создаёт следующую цель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40" b="1" i="0">
                <a:solidFill>
                  <a:srgbClr val="2F8F4E"/>
                </a:solidFill>
                <a:latin typeface="Arial"/>
              </a:rPr>
              <a:t>▪  </a:t>
            </a:r>
            <a:r>
              <a:rPr sz="1040" b="1" i="0">
                <a:solidFill>
                  <a:srgbClr val="1F2A44"/>
                </a:solidFill>
                <a:latin typeface="Arial"/>
              </a:rPr>
              <a:t>Постоянное разнообразие</a:t>
            </a:r>
            <a:r>
              <a:rPr sz="1040" b="0" i="0">
                <a:solidFill>
                  <a:srgbClr val="1F2A44"/>
                </a:solidFill>
                <a:latin typeface="Arial"/>
              </a:rPr>
              <a:t> — новые механики → затем ивенты, коллекции, социальные активности и мини-игры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40" b="1" i="0">
                <a:solidFill>
                  <a:srgbClr val="2F8F4E"/>
                </a:solidFill>
                <a:latin typeface="Arial"/>
              </a:rPr>
              <a:t>▪  </a:t>
            </a:r>
            <a:r>
              <a:rPr sz="1040" b="1" i="0">
                <a:solidFill>
                  <a:srgbClr val="1F2A44"/>
                </a:solidFill>
                <a:latin typeface="Arial"/>
              </a:rPr>
              <a:t>Лимиты и таймеры</a:t>
            </a:r>
            <a:r>
              <a:rPr sz="1040" b="0" i="0">
                <a:solidFill>
                  <a:srgbClr val="1F2A44"/>
                </a:solidFill>
                <a:latin typeface="Arial"/>
              </a:rPr>
              <a:t> — жизни и энергия возвращают по таймеру; ограниченные события ускоряют прохождение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40" b="1" i="0">
                <a:solidFill>
                  <a:srgbClr val="2F8F4E"/>
                </a:solidFill>
                <a:latin typeface="Arial"/>
              </a:rPr>
              <a:t>▪  </a:t>
            </a:r>
            <a:r>
              <a:rPr sz="1040" b="1" i="0">
                <a:solidFill>
                  <a:srgbClr val="1F2A44"/>
                </a:solidFill>
                <a:latin typeface="Arial"/>
              </a:rPr>
              <a:t>Социальный слой</a:t>
            </a:r>
            <a:r>
              <a:rPr sz="1040" b="0" i="0">
                <a:solidFill>
                  <a:srgbClr val="1F2A44"/>
                </a:solidFill>
                <a:latin typeface="Arial"/>
              </a:rPr>
              <a:t> — помощь = взаимность, кооп = долг, профили = статус, PvP = азарт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40" b="1" i="0">
                <a:solidFill>
                  <a:srgbClr val="2F8F4E"/>
                </a:solidFill>
                <a:latin typeface="Arial"/>
              </a:rPr>
              <a:t>▪  </a:t>
            </a:r>
            <a:r>
              <a:rPr sz="1040" b="1" i="0">
                <a:solidFill>
                  <a:srgbClr val="1F2A44"/>
                </a:solidFill>
                <a:latin typeface="Arial"/>
              </a:rPr>
              <a:t>Сниженный донатный прессинг</a:t>
            </a:r>
            <a:r>
              <a:rPr sz="1040" b="0" i="0">
                <a:solidFill>
                  <a:srgbClr val="1F2A44"/>
                </a:solidFill>
                <a:latin typeface="Arial"/>
              </a:rPr>
              <a:t> — награды за сюжет, ивенты и помощь клана поддерживают лояльность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4526280"/>
          </a:xfrm>
          <a:prstGeom prst="roundRect">
            <a:avLst>
              <a:gd name="adj" fmla="val 5000"/>
            </a:avLst>
          </a:prstGeom>
          <a:solidFill>
            <a:srgbClr val="FAF0DC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73152" cy="4526280"/>
          </a:xfrm>
          <a:prstGeom prst="rect">
            <a:avLst/>
          </a:prstGeom>
          <a:solidFill>
            <a:srgbClr val="E0A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73352"/>
            <a:ext cx="51023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E0A238"/>
                </a:solidFill>
                <a:latin typeface="Arial"/>
              </a:rPr>
              <a:t>Наиболее удачные решения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5074920" cy="3904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40" b="1" i="0">
                <a:solidFill>
                  <a:srgbClr val="E0A238"/>
                </a:solidFill>
                <a:latin typeface="Arial"/>
              </a:rPr>
              <a:t>▪  </a:t>
            </a:r>
            <a:r>
              <a:rPr sz="1040" b="1" i="0">
                <a:solidFill>
                  <a:srgbClr val="1F2A44"/>
                </a:solidFill>
                <a:latin typeface="Arial"/>
              </a:rPr>
              <a:t>Винстрик престартовых бустеров</a:t>
            </a:r>
            <a:r>
              <a:rPr sz="1040" b="0" i="0">
                <a:solidFill>
                  <a:srgbClr val="1F2A44"/>
                </a:solidFill>
                <a:latin typeface="Arial"/>
              </a:rPr>
              <a:t> — страх потери мотивирует тратить монеты и инвентарь; моё самое сильное наблюдение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40" b="1" i="0">
                <a:solidFill>
                  <a:srgbClr val="E0A238"/>
                </a:solidFill>
                <a:latin typeface="Arial"/>
              </a:rPr>
              <a:t>▪  </a:t>
            </a:r>
            <a:r>
              <a:rPr sz="1040" b="1" i="0">
                <a:solidFill>
                  <a:srgbClr val="1F2A44"/>
                </a:solidFill>
                <a:latin typeface="Arial"/>
              </a:rPr>
              <a:t>Накопленный труд в саду</a:t>
            </a:r>
            <a:r>
              <a:rPr sz="1040" b="0" i="0">
                <a:solidFill>
                  <a:srgbClr val="1F2A44"/>
                </a:solidFill>
                <a:latin typeface="Arial"/>
              </a:rPr>
              <a:t> — чем больше вложено, тем дороже психологически бросить игру — долгосрочный retention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40" b="1" i="0">
                <a:solidFill>
                  <a:srgbClr val="E0A238"/>
                </a:solidFill>
                <a:latin typeface="Arial"/>
              </a:rPr>
              <a:t>▪  </a:t>
            </a:r>
            <a:r>
              <a:rPr sz="1040" b="1" i="0">
                <a:solidFill>
                  <a:srgbClr val="1F2A44"/>
                </a:solidFill>
                <a:latin typeface="Arial"/>
              </a:rPr>
              <a:t>Временные жизни, бустеры и множители</a:t>
            </a:r>
            <a:r>
              <a:rPr sz="1040" b="0" i="0">
                <a:solidFill>
                  <a:srgbClr val="1F2A44"/>
                </a:solidFill>
                <a:latin typeface="Arial"/>
              </a:rPr>
              <a:t> — «поиграю, пока не закончилось» удлиняет сессию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40" b="1" i="0">
                <a:solidFill>
                  <a:srgbClr val="E0A238"/>
                </a:solidFill>
                <a:latin typeface="Arial"/>
              </a:rPr>
              <a:t>▪  </a:t>
            </a:r>
            <a:r>
              <a:rPr sz="1040" b="1" i="0">
                <a:solidFill>
                  <a:srgbClr val="1F2A44"/>
                </a:solidFill>
                <a:latin typeface="Arial"/>
              </a:rPr>
              <a:t>PvP и активности на скорость</a:t>
            </a:r>
            <a:r>
              <a:rPr sz="1040" b="0" i="0">
                <a:solidFill>
                  <a:srgbClr val="1F2A44"/>
                </a:solidFill>
                <a:latin typeface="Arial"/>
              </a:rPr>
              <a:t> — эмоции и спешка повышают ошибки, расход ходов и сокращают жизнь винстрика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40" b="1" i="0">
                <a:solidFill>
                  <a:srgbClr val="E0A238"/>
                </a:solidFill>
                <a:latin typeface="Arial"/>
              </a:rPr>
              <a:t>▪  </a:t>
            </a:r>
            <a:r>
              <a:rPr sz="1040" b="1" i="0">
                <a:solidFill>
                  <a:srgbClr val="1F2A44"/>
                </a:solidFill>
                <a:latin typeface="Arial"/>
              </a:rPr>
              <a:t>Соревнование на выбывание</a:t>
            </a:r>
            <a:r>
              <a:rPr sz="1040" b="0" i="0">
                <a:solidFill>
                  <a:srgbClr val="1F2A44"/>
                </a:solidFill>
                <a:latin typeface="Arial"/>
              </a:rPr>
              <a:t> — «Болотное испытание» держит напряжение лучше одиночного аналога; Royal Match усилил формулу в «Лавовом приключении»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8229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5A6478"/>
                </a:solidFill>
                <a:latin typeface="Arial"/>
              </a:rPr>
              <a:t>Gardenscapes × Royal Match — сравнительный анализ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1967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5A647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2243937" cy="310896"/>
          </a:xfrm>
          <a:prstGeom prst="roundRect">
            <a:avLst>
              <a:gd name="adj" fmla="val 50000"/>
            </a:avLst>
          </a:prstGeom>
          <a:solidFill>
            <a:srgbClr val="2D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 · СРАВНЕНИЕ МЕХАНИК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1F2A44"/>
                </a:solidFill>
                <a:latin typeface="Arial"/>
              </a:rPr>
              <a:t>Основной цикл, комбо и интеграция мини-игр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07592"/>
            <a:ext cx="1234440" cy="38100"/>
          </a:xfrm>
          <a:prstGeom prst="rect">
            <a:avLst/>
          </a:prstGeom>
          <a:solidFill>
            <a:srgbClr val="2D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4288536"/>
        </p:xfrm>
        <a:graphic>
          <a:graphicData uri="http://schemas.openxmlformats.org/drawingml/2006/table">
            <a:tbl>
              <a:tblPr/>
              <a:tblGrid>
                <a:gridCol w="1828800"/>
                <a:gridCol w="4663440"/>
                <a:gridCol w="4709160"/>
              </a:tblGrid>
              <a:tr h="612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Аспект</a:t>
                      </a:r>
                    </a:p>
                  </a:txBody>
                  <a:tcPr marL="73152" marR="73152" marT="32004" marB="32004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Gardenscapes</a:t>
                      </a:r>
                    </a:p>
                  </a:txBody>
                  <a:tcPr marL="73152" marR="73152" marT="32004" marB="32004" anchor="ctr">
                    <a:solidFill>
                      <a:srgbClr val="2F8F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Royal Match</a:t>
                      </a:r>
                    </a:p>
                  </a:txBody>
                  <a:tcPr marL="73152" marR="73152" marT="32004" marB="32004" anchor="ctr">
                    <a:solidFill>
                      <a:srgbClr val="2D5FC1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Комбо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Взрывы заряжают «ульт» — молнию. Прогресс копится пошагово.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Бустеры объединяют эффекты: больше решений, выше предсказуемость исхода.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Молния / световой шар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Молния комбинируется только с молнией, зато не исчезает от других взрывов: можно сначала раскрыть цветы, затем собрать их.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Световой шар раскрывается в разных комбинациях и сильнее по вариативности.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Пауэр-апы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Количество фишек определяет радиус. Петарда слаба и редко стоит хода.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Форма матча определяет эффект; пропеллер легко собрать, он полезен сам и в комбо.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Стартовые бустеры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Дополнительные ходы полезны всегда; другие бустеры хотя бы заряжают молнию.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Тесные поля часто не дают разместить стартовые бустеры — их ценность девальвируется.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Разделение поля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Порталы и стенки: визуально сложнее, но добавляют игровые механики.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Отдельные плашки фона: проще и чище, но менее системно.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Мини-игры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Редкие, почти не развиваются, слабо награждают и ощущаются чужеродно.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«Кошмар Короля» органичнее: знакомые механики, эмоциональный накал и перебивка ритма.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971032"/>
            <a:ext cx="11201400" cy="438912"/>
          </a:xfrm>
          <a:prstGeom prst="roundRect">
            <a:avLst>
              <a:gd name="adj" fmla="val 15000"/>
            </a:avLst>
          </a:prstGeom>
          <a:solidFill>
            <a:srgbClr val="E6EDFA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971032"/>
            <a:ext cx="73152" cy="438912"/>
          </a:xfrm>
          <a:prstGeom prst="rect">
            <a:avLst/>
          </a:prstGeom>
          <a:solidFill>
            <a:srgbClr val="2D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971032"/>
            <a:ext cx="106984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2D5FC1"/>
                </a:solidFill>
                <a:latin typeface="Arial"/>
              </a:rPr>
              <a:t>→  </a:t>
            </a:r>
            <a:r>
              <a:rPr sz="1100" b="0" i="0">
                <a:solidFill>
                  <a:srgbClr val="1F2A44"/>
                </a:solidFill>
                <a:latin typeface="Arial"/>
              </a:rPr>
              <a:t>Комбо Royal Match интереснее и предсказуемее; похожее решение уже есть у Playrix в Mystery Matters.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8229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5A6478"/>
                </a:solidFill>
                <a:latin typeface="Arial"/>
              </a:rPr>
              <a:t>Gardenscapes × Royal Match — сравнительный анализ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967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5A647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2D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 · СРАВНЕНИЕ МЕТА-СИСТЕМ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1F2A44"/>
                </a:solidFill>
                <a:latin typeface="Arial"/>
              </a:rPr>
              <a:t>Сессия, социал, события и монетизация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07592"/>
            <a:ext cx="1234440" cy="38100"/>
          </a:xfrm>
          <a:prstGeom prst="rect">
            <a:avLst/>
          </a:prstGeom>
          <a:solidFill>
            <a:srgbClr val="2D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4352544"/>
        </p:xfrm>
        <a:graphic>
          <a:graphicData uri="http://schemas.openxmlformats.org/drawingml/2006/table">
            <a:tbl>
              <a:tblPr/>
              <a:tblGrid>
                <a:gridCol w="1828800"/>
                <a:gridCol w="4663440"/>
                <a:gridCol w="4709160"/>
              </a:tblGrid>
              <a:tr h="621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Аспект</a:t>
                      </a:r>
                    </a:p>
                  </a:txBody>
                  <a:tcPr marL="73152" marR="73152" marT="32004" marB="32004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Gardenscapes</a:t>
                      </a:r>
                    </a:p>
                  </a:txBody>
                  <a:tcPr marL="73152" marR="73152" marT="32004" marB="32004" anchor="ctr">
                    <a:solidFill>
                      <a:srgbClr val="2F8F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Royal Match</a:t>
                      </a:r>
                    </a:p>
                  </a:txBody>
                  <a:tcPr marL="73152" marR="73152" marT="32004" marB="32004" anchor="ctr">
                    <a:solidFill>
                      <a:srgbClr val="2D5FC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Продолжительность сессии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Временные подарки реже, но удерживает разнообразие дополнительных активностей.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Безлимитные жизни, бустеры и x2 чередуются: постоянный крючок «пока не закончится».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Множитель x2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Таймеры наград сильнее подталкивают продолжать прямо сейчас.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Бонус x2 не ограничен временем и хуже ускоряет сессию, зато продаётся отдельно.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Социальные активности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Кооп, помощь и PvP есть, но вклад и матчмейкинг ощущаются менее конкурентными.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Больше турниров и PvP; весомый вклад в командные события лучше совпадает с аудиторией.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Предсказуемость «почти победы»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Неясно, сколько ходов не хватает; покупка продолжения рискованнее.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Часто не хватает 1–2 ходов: игрок понимает, что покупка почти гарантирует победу.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Платные паки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Офферы менее соблазнительны и хуже показывают будущую ценность.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Цепочка «бесплатный бонус → покупка → ещё бесплатные подарки» и второй оффер как боевой пропуск со скидкой.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PvP-эмоция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Лидеры часто недосягаемы — возможная проблема матчмейкинга.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30" b="0" i="0">
                          <a:solidFill>
                            <a:srgbClr val="1F2A44"/>
                          </a:solidFill>
                          <a:latin typeface="Arial"/>
                        </a:rPr>
                        <a:t>Соперники идут рядом; частые первые места дают понятную порцию дофамина.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989320"/>
            <a:ext cx="11201400" cy="438912"/>
          </a:xfrm>
          <a:prstGeom prst="roundRect">
            <a:avLst>
              <a:gd name="adj" fmla="val 15000"/>
            </a:avLst>
          </a:prstGeom>
          <a:solidFill>
            <a:srgbClr val="FAF0DC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989320"/>
            <a:ext cx="73152" cy="438912"/>
          </a:xfrm>
          <a:prstGeom prst="rect">
            <a:avLst/>
          </a:prstGeom>
          <a:solidFill>
            <a:srgbClr val="E0A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989320"/>
            <a:ext cx="106984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E0A238"/>
                </a:solidFill>
                <a:latin typeface="Arial"/>
              </a:rPr>
              <a:t>→  </a:t>
            </a:r>
            <a:r>
              <a:rPr sz="1100" b="0" i="0">
                <a:solidFill>
                  <a:srgbClr val="1F2A44"/>
                </a:solidFill>
                <a:latin typeface="Arial"/>
              </a:rPr>
              <a:t>Royal Match лучше продаёт продолжение: игрок видит достижимый результат и ценность оффера.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8229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5A6478"/>
                </a:solidFill>
                <a:latin typeface="Arial"/>
              </a:rPr>
              <a:t>Gardenscapes × Royal Match — сравнительный анализ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967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5A647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4 · ПРОБЛЕМЫ GARDENSCAPES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1F2A44"/>
                </a:solidFill>
                <a:latin typeface="Arial"/>
              </a:rPr>
              <a:t>Точки трения, замеченные в игровой сессии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07592"/>
            <a:ext cx="1234440" cy="3810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8E7E4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Маркетинг ≠ основной цикл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83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Иконка и первые скриншоты обещают pull-the-pin, который почти не встречается.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554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554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627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Головоломки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883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Мало уровней, слабая оптимизация, нет роста сложности, награды ничтожны.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6" y="1554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1554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1627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Чужеродные мини-игры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883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Не развиваются и не награждают: непонятно, зачем они существуют.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97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697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70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Слабый онбординг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026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Динамит и TNT изучаются опытным путём; поиск гномов объяснён неясно.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2697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0248" y="2697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2770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Бесполезная петарда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3026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Редко оправдывает ход; пропеллер Royal Match собирается проще и полезнее.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6" y="2697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8E7E4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2697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2770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«Магическая шляпа» поздно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3026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До открытия игра пугает будущим paywall; после — темп резко улучшается.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840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840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13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Маленькие отступы от края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169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На mini-девайсах жесты у края вызывают шторку или смену приложения.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0248" y="3840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8E7E4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0248" y="3840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8" y="3913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Непредсказуемый проигрыш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4169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В отличие от Royal Match, неясно, спасут ли дополнительные ходы.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37576" y="3840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37576" y="3840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0456" y="3913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Скрытая сложность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4169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Некоторые трудные уровни не отмечены — расход бустера ощущается ловушкой.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983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4983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056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PvP-матчмейкинг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12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До лидера невозможно приблизиться; соревнование перестаёт мотивировать.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70248" y="4983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70248" y="4983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53128" y="5056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Потеря незаконченного уровня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53128" y="5312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Разрядка телефона засчитывается как поражение — сильное чувство несправедливости.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37576" y="4983480"/>
            <a:ext cx="35478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7576" y="4983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0456" y="5056632"/>
            <a:ext cx="323697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Эрозия доверия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0456" y="5312664"/>
            <a:ext cx="323697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Сумма мелких проблем создаёт больше давления, чем лояльности.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6053328"/>
            <a:ext cx="11201400" cy="438912"/>
          </a:xfrm>
          <a:prstGeom prst="roundRect">
            <a:avLst>
              <a:gd name="adj" fmla="val 15000"/>
            </a:avLst>
          </a:prstGeom>
          <a:solidFill>
            <a:srgbClr val="F8E7E4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6053328"/>
            <a:ext cx="73152" cy="438912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" y="6053328"/>
            <a:ext cx="106984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70" b="1" i="0">
                <a:solidFill>
                  <a:srgbClr val="BE4F45"/>
                </a:solidFill>
                <a:latin typeface="Arial"/>
              </a:rPr>
              <a:t>→  </a:t>
            </a:r>
            <a:r>
              <a:rPr sz="1070" b="0" i="0">
                <a:solidFill>
                  <a:srgbClr val="1F2A44"/>
                </a:solidFill>
                <a:latin typeface="Arial"/>
              </a:rPr>
              <a:t>Главный риск — игрок уходит до того, как «Магическая шляпа» раскроет быстрый и увлекающий темп.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19672"/>
            <a:ext cx="8229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5A6478"/>
                </a:solidFill>
                <a:latin typeface="Arial"/>
              </a:rPr>
              <a:t>Gardenscapes × Royal Match — сравнительный анализ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51967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5A6478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2501798" cy="310896"/>
          </a:xfrm>
          <a:prstGeom prst="roundRect">
            <a:avLst>
              <a:gd name="adj" fmla="val 50000"/>
            </a:avLst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5 · ЧТО УЛУЧШИТЬ СНАЧАЛА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1F2A44"/>
                </a:solidFill>
                <a:latin typeface="Arial"/>
              </a:rPr>
              <a:t>Основной цикл, онбординг, честность и монетизация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07592"/>
            <a:ext cx="1234440" cy="3810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3F1E6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64008" cy="10058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51755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2F8F4E"/>
                </a:solidFill>
                <a:latin typeface="Arial"/>
              </a:rPr>
              <a:t>1. Раньше открыть «Шляпу»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83664"/>
            <a:ext cx="517550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Сбалансировать первые уровни; дать временный бесплатный бустер. Проверять по D1/D7 и уровню раннего оттока.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3F1E6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64008" cy="10058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1755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2F8F4E"/>
                </a:solidFill>
                <a:latin typeface="Arial"/>
              </a:rPr>
              <a:t>2. Углубить головоломки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83664"/>
            <a:ext cx="517550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Больше уровней, рост сложности и заметные награды — реальная связка рекламы с продуктом.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9748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6EDFA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64008" cy="1005840"/>
          </a:xfrm>
          <a:prstGeom prst="rect">
            <a:avLst/>
          </a:prstGeom>
          <a:solidFill>
            <a:srgbClr val="2D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70632"/>
            <a:ext cx="51755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2D5FC1"/>
                </a:solidFill>
                <a:latin typeface="Arial"/>
              </a:rPr>
              <a:t>3. Обучать через зрелище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26664"/>
            <a:ext cx="517550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Начинать обучающие уровни с активации бустера и каскада анимаций; отдельно объяснить TNT, динамит и гномов.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9748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E6EDFA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97480"/>
            <a:ext cx="64008" cy="1005840"/>
          </a:xfrm>
          <a:prstGeom prst="rect">
            <a:avLst/>
          </a:prstGeom>
          <a:solidFill>
            <a:srgbClr val="2D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770632"/>
            <a:ext cx="51755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2D5FC1"/>
                </a:solidFill>
                <a:latin typeface="Arial"/>
              </a:rPr>
              <a:t>4. Добавить бонусные уровни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26664"/>
            <a:ext cx="517550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После сложных уровней давать расслабляющую сессию с большим количеством монет, как в Royal Match.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8E7E4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40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13632"/>
            <a:ext cx="51755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5. Сохранить незаконченный уровень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4"/>
            <a:ext cx="517550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После сворачивания или разрядки восстанавливать состояние; минимум — предупреждать о низком заряде.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4048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8E7E4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840480"/>
            <a:ext cx="64008" cy="1005840"/>
          </a:xfrm>
          <a:prstGeom prst="rect">
            <a:avLst/>
          </a:prstGeom>
          <a:solidFill>
            <a:srgbClr val="BE4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913632"/>
            <a:ext cx="51755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BE4F45"/>
                </a:solidFill>
                <a:latin typeface="Arial"/>
              </a:rPr>
              <a:t>6. Починить честность сложности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69664"/>
            <a:ext cx="517550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Маркировать сложные уровни, улучшить прогноз «почти победы» и матчмейкинг PvP; увеличить отступы от края.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8348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AF0DC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983480"/>
            <a:ext cx="64008" cy="1005840"/>
          </a:xfrm>
          <a:prstGeom prst="rect">
            <a:avLst/>
          </a:prstGeom>
          <a:solidFill>
            <a:srgbClr val="E0A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056632"/>
            <a:ext cx="51755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E0A238"/>
                </a:solidFill>
                <a:latin typeface="Arial"/>
              </a:rPr>
              <a:t>7. Развить винстрик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312664"/>
            <a:ext cx="517550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Сделать бустеры временными; добавить «заморозку» или восстановление за монеты — референс Duolingo.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983480"/>
            <a:ext cx="5486400" cy="1005840"/>
          </a:xfrm>
          <a:prstGeom prst="roundRect">
            <a:avLst>
              <a:gd name="adj" fmla="val 6000"/>
            </a:avLst>
          </a:prstGeom>
          <a:solidFill>
            <a:srgbClr val="FAF0DC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983480"/>
            <a:ext cx="64008" cy="1005840"/>
          </a:xfrm>
          <a:prstGeom prst="rect">
            <a:avLst/>
          </a:prstGeom>
          <a:solidFill>
            <a:srgbClr val="E0A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056632"/>
            <a:ext cx="517550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E0A238"/>
                </a:solidFill>
                <a:latin typeface="Arial"/>
              </a:rPr>
              <a:t>8. Пересобрать офферы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312664"/>
            <a:ext cx="517550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9" b="0" i="0">
                <a:solidFill>
                  <a:srgbClr val="1F2A44"/>
                </a:solidFill>
                <a:latin typeface="Arial"/>
              </a:rPr>
              <a:t>Заимствовать цепочку Royal Match: бесплатный вход → понятный пакет → видимая будущая награда.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6053328"/>
            <a:ext cx="11201400" cy="438912"/>
          </a:xfrm>
          <a:prstGeom prst="roundRect">
            <a:avLst>
              <a:gd name="adj" fmla="val 15000"/>
            </a:avLst>
          </a:prstGeom>
          <a:solidFill>
            <a:srgbClr val="E3F1E6"/>
          </a:solidFill>
          <a:ln w="8890">
            <a:solidFill>
              <a:srgbClr val="DE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6053328"/>
            <a:ext cx="73152" cy="438912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6053328"/>
            <a:ext cx="106984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2F8F4E"/>
                </a:solidFill>
                <a:latin typeface="Arial"/>
              </a:rPr>
              <a:t>→  </a:t>
            </a:r>
            <a:r>
              <a:rPr sz="1100" b="0" i="0">
                <a:solidFill>
                  <a:srgbClr val="1F2A44"/>
                </a:solidFill>
                <a:latin typeface="Arial"/>
              </a:rPr>
              <a:t>Порядок: сначала снизить ранний отток и несправедливость, затем усиливать монетизацию.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9672"/>
            <a:ext cx="8229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5A6478"/>
                </a:solidFill>
                <a:latin typeface="Arial"/>
              </a:rPr>
              <a:t>Gardenscapes × Royal Match — сравнительный анализ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51967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5A647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10896"/>
            <a:ext cx="1728216" cy="310896"/>
          </a:xfrm>
          <a:prstGeom prst="roundRect">
            <a:avLst>
              <a:gd name="adj" fmla="val 50000"/>
            </a:avLst>
          </a:prstGeom>
          <a:solidFill>
            <a:srgbClr val="E0A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6 · БЭКЛОГ ИДЕЙ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700" b="1" i="0">
                <a:solidFill>
                  <a:srgbClr val="1F2A44"/>
                </a:solidFill>
                <a:latin typeface="Arial"/>
              </a:rPr>
              <a:t>События, социальный слой и мета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07592"/>
            <a:ext cx="1234440" cy="38100"/>
          </a:xfrm>
          <a:prstGeom prst="rect">
            <a:avLst/>
          </a:prstGeom>
          <a:solidFill>
            <a:srgbClr val="E0A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36192"/>
          <a:ext cx="11201400" cy="4608576"/>
        </p:xfrm>
        <a:graphic>
          <a:graphicData uri="http://schemas.openxmlformats.org/drawingml/2006/table">
            <a:tbl>
              <a:tblPr/>
              <a:tblGrid>
                <a:gridCol w="2240280"/>
                <a:gridCol w="5669280"/>
                <a:gridCol w="3291840"/>
              </a:tblGrid>
              <a:tr h="576072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Идея</a:t>
                      </a:r>
                    </a:p>
                  </a:txBody>
                  <a:tcPr marL="73152" marR="73152" marT="32004" marB="32004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Как работает</a:t>
                      </a:r>
                    </a:p>
                  </a:txBody>
                  <a:tcPr marL="73152" marR="73152" marT="32004" marB="32004" anchor="ctr">
                    <a:solidFill>
                      <a:srgbClr val="2F8F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Зачем</a:t>
                      </a:r>
                    </a:p>
                  </a:txBody>
                  <a:tcPr marL="73152" marR="73152" marT="32004" marB="32004" anchor="ctr">
                    <a:solidFill>
                      <a:srgbClr val="2D5FC1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Экспедиция 2.0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Больше крафта и сбора; факелы и открытие клеток; выборы в диалогах и загадки с повтором за энергию.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Глубина вместо простой расчистки прохода.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Рогалик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Череда карт с новым расположением элементов и гномов; мета-прокачка запаса бустеров или упрощения карт.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Реиграбельность и вариативные сессии.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Раскраска-коллекция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За уровни выпадают краски; обмен с друзьями или рецепт 3 ненужных → 1 нужная.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Коллекционирование + социальная торговля.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Соревнование на эффективность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Побеждает игрок, закончивший уровень за меньшее количество ходов.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Состязание мастерства вместо одной гонки по времени.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Статус и достижения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Показывать % прохождения с первого раза; ачивки и просмотр достижений других игроков.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Мастерство, статусность, темы для профиля.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Кастомизация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Дополнительный декор за монеты, платные скины персонажей.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Новые точки расхода валюты и косметическая монетизация.</a:t>
                      </a:r>
                    </a:p>
                  </a:txBody>
                  <a:tcPr marL="73152" marR="73152" marT="32004" marB="32004" anchor="ctr">
                    <a:solidFill>
                      <a:srgbClr val="F0EDE7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Личная локация + соцсвязь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Личная локация с предметами, помощью и ресурсами; визиты, публикация участков и голосование за лучший декор.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10" b="0" i="0">
                          <a:solidFill>
                            <a:srgbClr val="1F2A44"/>
                          </a:solidFill>
                          <a:latin typeface="Arial"/>
                        </a:rPr>
                        <a:t>Чувство собственности должно пересекаться с геймплеем.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9672"/>
            <a:ext cx="8229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5A6478"/>
                </a:solidFill>
                <a:latin typeface="Arial"/>
              </a:rPr>
              <a:t>Gardenscapes × Royal Match — сравнительный анализ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967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5A647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257800"/>
            <a:ext cx="14173200" cy="1828800"/>
          </a:xfrm>
          <a:prstGeom prst="rect">
            <a:avLst/>
          </a:prstGeom>
          <a:solidFill>
            <a:srgbClr val="2A3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Главный вывод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2011680" cy="38100"/>
          </a:xfrm>
          <a:prstGeom prst="rect">
            <a:avLst/>
          </a:prstGeom>
          <a:solidFill>
            <a:srgbClr val="E0A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2000" b="1" i="0">
                <a:solidFill>
                  <a:srgbClr val="8FD6A4"/>
                </a:solidFill>
                <a:latin typeface="Arial"/>
              </a:rPr>
              <a:t>Gardenscapes уже сильнее в главном: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восстановление сада создаёт чувство собственности и долгосрочную привязанность.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2000" b="1" i="0">
                <a:solidFill>
                  <a:srgbClr val="9DBCF5"/>
                </a:solidFill>
                <a:latin typeface="Arial"/>
              </a:rPr>
              <a:t>Точка роста — дать игроку раньше почувствовать эту силу: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ускорить ранний основной цикл, честно объяснить механики и сделать результат хода предсказуемее.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 i="0">
                <a:solidFill>
                  <a:srgbClr val="B9C3D9"/>
                </a:solidFill>
                <a:latin typeface="Arial"/>
              </a:rPr>
              <a:t>Приоритет проверки: ранняя «Магическая шляпа» → честные «почти победы» и сложность → улучшенные головоломки → новые социальные события.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8E99B5"/>
                </a:solidFill>
                <a:latin typeface="Arial"/>
              </a:rPr>
              <a:t>Основа анализа: личные игровые сессии и заметки кандидата   ·   [Ваше имя]   ·   [email / telegram]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8229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 i="0">
                <a:solidFill>
                  <a:srgbClr val="5A6478"/>
                </a:solidFill>
                <a:latin typeface="Arial"/>
              </a:rPr>
              <a:t>Gardenscapes × Royal Match — сравнительный анализ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967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5A647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