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-1097280" y="5394960"/>
            <a:ext cx="14630400" cy="2194560"/>
          </a:xfrm>
          <a:prstGeom prst="rect">
            <a:avLst/>
          </a:prstGeom>
          <a:solidFill>
            <a:srgbClr val="2733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692640" y="-1280160"/>
            <a:ext cx="4023360" cy="4023360"/>
          </a:xfrm>
          <a:prstGeom prst="ellipse">
            <a:avLst/>
          </a:prstGeom>
          <a:solidFill>
            <a:srgbClr val="2733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698480" y="-457200"/>
            <a:ext cx="2194560" cy="2194560"/>
          </a:xfrm>
          <a:prstGeom prst="ellipse">
            <a:avLst/>
          </a:prstGeom>
          <a:solidFill>
            <a:srgbClr val="E0A2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77240" y="960120"/>
            <a:ext cx="3977639" cy="384048"/>
          </a:xfrm>
          <a:prstGeom prst="roundRect">
            <a:avLst>
              <a:gd name="adj" fmla="val 50000"/>
            </a:avLst>
          </a:prstGeom>
          <a:solidFill>
            <a:srgbClr val="E0A2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73152" rIns="73152" tIns="0" bIns="0"/>
          <a:lstStyle/>
          <a:p>
            <a:pPr algn="ctr"/>
            <a:r>
              <a:rPr sz="1200" b="1">
                <a:solidFill>
                  <a:srgbClr val="1F2A44"/>
                </a:solidFill>
                <a:latin typeface="Arial"/>
              </a:rPr>
              <a:t>ТЕСТОВОЕ ЗАДАНИЕ · JUNIOR GAME DESIGNER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691640"/>
            <a:ext cx="10607040" cy="2103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4800" b="1" i="0">
                <a:solidFill>
                  <a:srgbClr val="8FD6A4"/>
                </a:solidFill>
                <a:latin typeface="Arial"/>
              </a:rPr>
              <a:t>Gardenscapes </a:t>
            </a:r>
            <a:r>
              <a:rPr sz="4800" b="0" i="0">
                <a:solidFill>
                  <a:srgbClr val="B9C3D9"/>
                </a:solidFill>
                <a:latin typeface="Arial"/>
              </a:rPr>
              <a:t>vs </a:t>
            </a:r>
            <a:r>
              <a:rPr sz="4800" b="1" i="0">
                <a:solidFill>
                  <a:srgbClr val="9DBCF5"/>
                </a:solidFill>
                <a:latin typeface="Arial"/>
              </a:rPr>
              <a:t>Royal Match</a:t>
            </a:r>
          </a:p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000" b="0" i="0">
                <a:solidFill>
                  <a:srgbClr val="D8DDE9"/>
                </a:solidFill>
                <a:latin typeface="Arial"/>
              </a:rPr>
              <a:t>Сравнительный анализ дизайн-решений вовлечения и удержания игроков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3977639"/>
            <a:ext cx="100584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0" i="0">
                <a:solidFill>
                  <a:srgbClr val="9AA5C0"/>
                </a:solidFill>
                <a:latin typeface="Arial"/>
              </a:rPr>
              <a:t>Дизайн-решения удержания  ·  Сравнение механик  ·  Проблемы Gardenscapes  ·  Предложения по улучшению</a:t>
            </a:r>
          </a:p>
        </p:txBody>
      </p:sp>
      <p:sp>
        <p:nvSpPr>
          <p:cNvPr id="9" name="Rectangle 8"/>
          <p:cNvSpPr/>
          <p:nvPr/>
        </p:nvSpPr>
        <p:spPr>
          <a:xfrm>
            <a:off x="795528" y="3858768"/>
            <a:ext cx="2011680" cy="38100"/>
          </a:xfrm>
          <a:prstGeom prst="rect">
            <a:avLst/>
          </a:prstGeom>
          <a:solidFill>
            <a:srgbClr val="E0A2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580644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0" i="0">
                <a:solidFill>
                  <a:srgbClr val="8E99B5"/>
                </a:solidFill>
                <a:latin typeface="Arial"/>
              </a:rPr>
              <a:t>Кандидат: [Ваше имя]      ·      Playrix      ·      июль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384048"/>
            <a:ext cx="1176832" cy="310896"/>
          </a:xfrm>
          <a:prstGeom prst="roundRect">
            <a:avLst>
              <a:gd name="adj" fmla="val 50000"/>
            </a:avLst>
          </a:prstGeom>
          <a:solidFill>
            <a:srgbClr val="E0A2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73152" rIns="73152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СТРУКТУРА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04672"/>
            <a:ext cx="111556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700" b="1" i="0">
                <a:solidFill>
                  <a:srgbClr val="1F2A44"/>
                </a:solidFill>
                <a:latin typeface="Arial"/>
              </a:rPr>
              <a:t>Пять вопросов — пять блоков ответа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1481328"/>
            <a:ext cx="1234440" cy="38100"/>
          </a:xfrm>
          <a:prstGeom prst="rect">
            <a:avLst/>
          </a:prstGeom>
          <a:solidFill>
            <a:srgbClr val="E0A2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02920" y="1783080"/>
            <a:ext cx="11201400" cy="80467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E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85800" y="1984248"/>
            <a:ext cx="566928" cy="402336"/>
          </a:xfrm>
          <a:prstGeom prst="roundRect">
            <a:avLst>
              <a:gd name="adj" fmla="val 50000"/>
            </a:avLst>
          </a:prstGeom>
          <a:solidFill>
            <a:srgbClr val="2F8F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73152" rIns="73152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81328" y="18745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50" b="1" i="0">
                <a:solidFill>
                  <a:srgbClr val="1F2A44"/>
                </a:solidFill>
                <a:latin typeface="Arial"/>
              </a:rPr>
              <a:t>Дизайн-решения вовлечения и удержания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81328" y="22128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5A6478"/>
                </a:solidFill>
                <a:latin typeface="Arial"/>
              </a:rPr>
              <a:t>Какие приёмы используют обе игры: core, мета, live-ops, социальные и психологические механики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2688336"/>
            <a:ext cx="11201400" cy="80467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E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85800" y="2889504"/>
            <a:ext cx="566928" cy="402336"/>
          </a:xfrm>
          <a:prstGeom prst="roundRect">
            <a:avLst>
              <a:gd name="adj" fmla="val 50000"/>
            </a:avLst>
          </a:prstGeom>
          <a:solidFill>
            <a:srgbClr val="E0A2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73152" rIns="73152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81328" y="2779776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50" b="1" i="0">
                <a:solidFill>
                  <a:srgbClr val="1F2A44"/>
                </a:solidFill>
                <a:latin typeface="Arial"/>
              </a:rPr>
              <a:t>Наиболее удачные решения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81328" y="3118104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5A6478"/>
                </a:solidFill>
                <a:latin typeface="Arial"/>
              </a:rPr>
              <a:t>Что работает лучше всего в каждой игре и почему — с позиции ретеншена и монетизации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3593592"/>
            <a:ext cx="11201400" cy="80467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E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85800" y="3794760"/>
            <a:ext cx="566928" cy="402336"/>
          </a:xfrm>
          <a:prstGeom prst="roundRect">
            <a:avLst>
              <a:gd name="adj" fmla="val 50000"/>
            </a:avLst>
          </a:prstGeom>
          <a:solidFill>
            <a:srgbClr val="2D5F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73152" rIns="73152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81328" y="3685032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50" b="1" i="0">
                <a:solidFill>
                  <a:srgbClr val="1F2A44"/>
                </a:solidFill>
                <a:latin typeface="Arial"/>
              </a:rPr>
              <a:t>Сравнительный анализ механик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81328" y="402336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5A6478"/>
                </a:solidFill>
                <a:latin typeface="Arial"/>
              </a:rPr>
              <a:t>Пауэр-апы и core-геймплей · жизни и монетизация · мета-слой и live-ops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4498848"/>
            <a:ext cx="11201400" cy="80467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E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85800" y="4700016"/>
            <a:ext cx="566928" cy="402336"/>
          </a:xfrm>
          <a:prstGeom prst="roundRect">
            <a:avLst>
              <a:gd name="adj" fmla="val 50000"/>
            </a:avLst>
          </a:prstGeom>
          <a:solidFill>
            <a:srgbClr val="BE4F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73152" rIns="73152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1328" y="4590288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50" b="1" i="0">
                <a:solidFill>
                  <a:srgbClr val="1F2A44"/>
                </a:solidFill>
                <a:latin typeface="Arial"/>
              </a:rPr>
              <a:t>Проблемы Gardenscapes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81328" y="4928616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5A6478"/>
                </a:solidFill>
                <a:latin typeface="Arial"/>
              </a:rPr>
              <a:t>Пейсинг меты, доверие к маркетингу, пики сложности, перегруженный UX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2920" y="5404104"/>
            <a:ext cx="11201400" cy="80467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E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85800" y="5605272"/>
            <a:ext cx="566928" cy="402336"/>
          </a:xfrm>
          <a:prstGeom prst="roundRect">
            <a:avLst>
              <a:gd name="adj" fmla="val 50000"/>
            </a:avLst>
          </a:prstGeom>
          <a:solidFill>
            <a:srgbClr val="2F8F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73152" rIns="73152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05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481328" y="5495544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50" b="1" i="0">
                <a:solidFill>
                  <a:srgbClr val="1F2A44"/>
                </a:solidFill>
                <a:latin typeface="Arial"/>
              </a:rPr>
              <a:t>Что и как можно улучшить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81328" y="5833872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5A6478"/>
                </a:solidFill>
                <a:latin typeface="Arial"/>
              </a:rPr>
              <a:t>Конкретные решения с ожидаемым эффектом и метриками, приоритизация по impact / effort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" y="64739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5A6478"/>
                </a:solidFill>
                <a:latin typeface="Arial"/>
              </a:rPr>
              <a:t>Gardenscapes × Royal Match — сравнительный анализ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292840" y="6473952"/>
            <a:ext cx="411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900" b="1" i="0">
                <a:solidFill>
                  <a:srgbClr val="5A6478"/>
                </a:solidFill>
                <a:latin typeface="Arial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384048"/>
            <a:ext cx="1091793" cy="310896"/>
          </a:xfrm>
          <a:prstGeom prst="roundRect">
            <a:avLst>
              <a:gd name="adj" fmla="val 50000"/>
            </a:avLst>
          </a:prstGeom>
          <a:solidFill>
            <a:srgbClr val="E0A2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73152" rIns="73152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КОНТЕКСТ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04672"/>
            <a:ext cx="111556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700" b="1" i="0">
                <a:solidFill>
                  <a:srgbClr val="1F2A44"/>
                </a:solidFill>
                <a:latin typeface="Arial"/>
              </a:rPr>
              <a:t>Две философии одного жанра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1481328"/>
            <a:ext cx="1234440" cy="38100"/>
          </a:xfrm>
          <a:prstGeom prst="rect">
            <a:avLst/>
          </a:prstGeom>
          <a:solidFill>
            <a:srgbClr val="E0A2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02920" y="1737360"/>
            <a:ext cx="5486400" cy="3977639"/>
          </a:xfrm>
          <a:prstGeom prst="roundRect">
            <a:avLst>
              <a:gd name="adj" fmla="val 4500"/>
            </a:avLst>
          </a:prstGeom>
          <a:solidFill>
            <a:srgbClr val="E3F1E6"/>
          </a:solidFill>
          <a:ln w="9525">
            <a:solidFill>
              <a:srgbClr val="DE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1737360"/>
            <a:ext cx="82296" cy="3977639"/>
          </a:xfrm>
          <a:prstGeom prst="rect">
            <a:avLst/>
          </a:prstGeom>
          <a:solidFill>
            <a:srgbClr val="2F8F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58952" y="1892808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F8F4E"/>
                </a:solidFill>
                <a:latin typeface="Arial"/>
              </a:rPr>
              <a:t>Gardenscapes — «мета прежде всего»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9120" y="1901952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F8F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73152" rIns="73152" tIns="0" bIns="0"/>
          <a:lstStyle/>
          <a:p>
            <a:pPr algn="ctr"/>
            <a:r>
              <a:rPr sz="950" b="1">
                <a:solidFill>
                  <a:srgbClr val="FFFFFF"/>
                </a:solidFill>
                <a:latin typeface="Arial"/>
              </a:rPr>
              <a:t>MATCH-3 + META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8952" y="2304288"/>
            <a:ext cx="4983480" cy="32461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700"/>
              </a:spcAft>
            </a:pPr>
            <a:r>
              <a:rPr sz="1250" b="1" i="0">
                <a:solidFill>
                  <a:srgbClr val="2F8F4E"/>
                </a:solidFill>
                <a:latin typeface="Arial"/>
              </a:rPr>
              <a:t>▪  </a:t>
            </a:r>
            <a:r>
              <a:rPr sz="1250" b="1" i="0">
                <a:solidFill>
                  <a:srgbClr val="1F2A44"/>
                </a:solidFill>
                <a:latin typeface="Arial"/>
              </a:rPr>
              <a:t>Playrix, 2016</a:t>
            </a:r>
            <a:r>
              <a:rPr sz="1250" b="0" i="0">
                <a:solidFill>
                  <a:srgbClr val="1F2A44"/>
                </a:solidFill>
                <a:latin typeface="Arial"/>
              </a:rPr>
              <a:t> — пионер формата match-3 + реновация</a:t>
            </a:r>
          </a:p>
          <a:p>
            <a:pPr algn="l">
              <a:lnSpc>
                <a:spcPct val="104000"/>
              </a:lnSpc>
              <a:spcAft>
                <a:spcPts val="700"/>
              </a:spcAft>
            </a:pPr>
            <a:r>
              <a:rPr sz="1250" b="1" i="0">
                <a:solidFill>
                  <a:srgbClr val="2F8F4E"/>
                </a:solidFill>
                <a:latin typeface="Arial"/>
              </a:rPr>
              <a:t>▪  </a:t>
            </a:r>
            <a:r>
              <a:rPr sz="1250" b="1" i="0">
                <a:solidFill>
                  <a:srgbClr val="1F2A44"/>
                </a:solidFill>
                <a:latin typeface="Arial"/>
              </a:rPr>
              <a:t>Фантазия «своего сада»</a:t>
            </a:r>
            <a:r>
              <a:rPr sz="1250" b="0" i="0">
                <a:solidFill>
                  <a:srgbClr val="1F2A44"/>
                </a:solidFill>
                <a:latin typeface="Arial"/>
              </a:rPr>
              <a:t> — звёзды за уровни тратятся на восстановление сада по задачам</a:t>
            </a:r>
          </a:p>
          <a:p>
            <a:pPr algn="l">
              <a:lnSpc>
                <a:spcPct val="104000"/>
              </a:lnSpc>
              <a:spcAft>
                <a:spcPts val="700"/>
              </a:spcAft>
            </a:pPr>
            <a:r>
              <a:rPr sz="1250" b="1" i="0">
                <a:solidFill>
                  <a:srgbClr val="2F8F4E"/>
                </a:solidFill>
                <a:latin typeface="Arial"/>
              </a:rPr>
              <a:t>▪  </a:t>
            </a:r>
            <a:r>
              <a:rPr sz="1250" b="1" i="0">
                <a:solidFill>
                  <a:srgbClr val="1F2A44"/>
                </a:solidFill>
                <a:latin typeface="Arial"/>
              </a:rPr>
              <a:t>Сюжет и персонажи</a:t>
            </a:r>
            <a:r>
              <a:rPr sz="1250" b="0" i="0">
                <a:solidFill>
                  <a:srgbClr val="1F2A44"/>
                </a:solidFill>
                <a:latin typeface="Arial"/>
              </a:rPr>
              <a:t> — дворецкий Остин, «сериальная» подача: игровой день = эпизод</a:t>
            </a:r>
          </a:p>
          <a:p>
            <a:pPr algn="l">
              <a:lnSpc>
                <a:spcPct val="104000"/>
              </a:lnSpc>
              <a:spcAft>
                <a:spcPts val="700"/>
              </a:spcAft>
            </a:pPr>
            <a:r>
              <a:rPr sz="1250" b="1" i="0">
                <a:solidFill>
                  <a:srgbClr val="2F8F4E"/>
                </a:solidFill>
                <a:latin typeface="Arial"/>
              </a:rPr>
              <a:t>▪  </a:t>
            </a:r>
            <a:r>
              <a:rPr sz="1250" b="1" i="0">
                <a:solidFill>
                  <a:srgbClr val="1F2A44"/>
                </a:solidFill>
                <a:latin typeface="Arial"/>
              </a:rPr>
              <a:t>Глубокая прогрессия</a:t>
            </a:r>
            <a:r>
              <a:rPr sz="1250" b="0" i="0">
                <a:solidFill>
                  <a:srgbClr val="1F2A44"/>
                </a:solidFill>
                <a:latin typeface="Arial"/>
              </a:rPr>
              <a:t> — тысячи уровней, сезонные события, коллекции, команды</a:t>
            </a:r>
          </a:p>
          <a:p>
            <a:pPr algn="l">
              <a:lnSpc>
                <a:spcPct val="104000"/>
              </a:lnSpc>
              <a:spcAft>
                <a:spcPts val="700"/>
              </a:spcAft>
            </a:pPr>
            <a:r>
              <a:rPr sz="1250" b="1" i="0">
                <a:solidFill>
                  <a:srgbClr val="2F8F4E"/>
                </a:solidFill>
                <a:latin typeface="Arial"/>
              </a:rPr>
              <a:t>▪  </a:t>
            </a:r>
            <a:r>
              <a:rPr sz="1250" b="1" i="0">
                <a:solidFill>
                  <a:srgbClr val="1F2A44"/>
                </a:solidFill>
                <a:latin typeface="Arial"/>
              </a:rPr>
              <a:t>Ставка на эмоциональную привязанность</a:t>
            </a:r>
            <a:r>
              <a:rPr sz="1250" b="0" i="0">
                <a:solidFill>
                  <a:srgbClr val="1F2A44"/>
                </a:solidFill>
                <a:latin typeface="Arial"/>
              </a:rPr>
              <a:t> — сад — «дом», который жалко бросить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737360"/>
            <a:ext cx="5486400" cy="3977639"/>
          </a:xfrm>
          <a:prstGeom prst="roundRect">
            <a:avLst>
              <a:gd name="adj" fmla="val 4500"/>
            </a:avLst>
          </a:prstGeom>
          <a:solidFill>
            <a:srgbClr val="E6EDFA"/>
          </a:solidFill>
          <a:ln w="9525">
            <a:solidFill>
              <a:srgbClr val="DE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17920" y="1737360"/>
            <a:ext cx="82296" cy="3977639"/>
          </a:xfrm>
          <a:prstGeom prst="rect">
            <a:avLst/>
          </a:prstGeom>
          <a:solidFill>
            <a:srgbClr val="2D5F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73952" y="1892808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D5FC1"/>
                </a:solidFill>
                <a:latin typeface="Arial"/>
              </a:rPr>
              <a:t>Royal Match — «core прежде всего»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0104120" y="1901952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5F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73152" rIns="73152" tIns="0" bIns="0"/>
          <a:lstStyle/>
          <a:p>
            <a:pPr algn="ctr"/>
            <a:r>
              <a:rPr sz="950" b="1">
                <a:solidFill>
                  <a:srgbClr val="FFFFFF"/>
                </a:solidFill>
                <a:latin typeface="Arial"/>
              </a:rPr>
              <a:t>CORE-FIRST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73952" y="2304288"/>
            <a:ext cx="4983480" cy="32461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700"/>
              </a:spcAft>
            </a:pPr>
            <a:r>
              <a:rPr sz="1250" b="1" i="0">
                <a:solidFill>
                  <a:srgbClr val="2D5FC1"/>
                </a:solidFill>
                <a:latin typeface="Arial"/>
              </a:rPr>
              <a:t>▪  </a:t>
            </a:r>
            <a:r>
              <a:rPr sz="1250" b="1" i="0">
                <a:solidFill>
                  <a:srgbClr val="1F2A44"/>
                </a:solidFill>
                <a:latin typeface="Arial"/>
              </a:rPr>
              <a:t>Dream Games, 2021</a:t>
            </a:r>
            <a:r>
              <a:rPr sz="1250" b="0" i="0">
                <a:solidFill>
                  <a:srgbClr val="1F2A44"/>
                </a:solidFill>
                <a:latin typeface="Arial"/>
              </a:rPr>
              <a:t> — лидер жанра по выручке от IAP</a:t>
            </a:r>
          </a:p>
          <a:p>
            <a:pPr algn="l">
              <a:lnSpc>
                <a:spcPct val="104000"/>
              </a:lnSpc>
              <a:spcAft>
                <a:spcPts val="700"/>
              </a:spcAft>
            </a:pPr>
            <a:r>
              <a:rPr sz="1250" b="1" i="0">
                <a:solidFill>
                  <a:srgbClr val="2D5FC1"/>
                </a:solidFill>
                <a:latin typeface="Arial"/>
              </a:rPr>
              <a:t>▪  </a:t>
            </a:r>
            <a:r>
              <a:rPr sz="1250" b="1" i="0">
                <a:solidFill>
                  <a:srgbClr val="1F2A44"/>
                </a:solidFill>
                <a:latin typeface="Arial"/>
              </a:rPr>
              <a:t>Максимально отполированный match-3</a:t>
            </a:r>
            <a:r>
              <a:rPr sz="1250" b="0" i="0">
                <a:solidFill>
                  <a:srgbClr val="1F2A44"/>
                </a:solidFill>
                <a:latin typeface="Arial"/>
              </a:rPr>
              <a:t> — быстрые анимации, высокая читаемость поля</a:t>
            </a:r>
          </a:p>
          <a:p>
            <a:pPr algn="l">
              <a:lnSpc>
                <a:spcPct val="104000"/>
              </a:lnSpc>
              <a:spcAft>
                <a:spcPts val="700"/>
              </a:spcAft>
            </a:pPr>
            <a:r>
              <a:rPr sz="1250" b="1" i="0">
                <a:solidFill>
                  <a:srgbClr val="2D5FC1"/>
                </a:solidFill>
                <a:latin typeface="Arial"/>
              </a:rPr>
              <a:t>▪  </a:t>
            </a:r>
            <a:r>
              <a:rPr sz="1250" b="1" i="0">
                <a:solidFill>
                  <a:srgbClr val="1F2A44"/>
                </a:solidFill>
                <a:latin typeface="Arial"/>
              </a:rPr>
              <a:t>Минималистичная мета</a:t>
            </a:r>
            <a:r>
              <a:rPr sz="1250" b="0" i="0">
                <a:solidFill>
                  <a:srgbClr val="1F2A44"/>
                </a:solidFill>
                <a:latin typeface="Arial"/>
              </a:rPr>
              <a:t> — лёгкий декор замка короля Роберта — выбрана после A/B-тестов против «без меты» и «эпизодной меты»</a:t>
            </a:r>
          </a:p>
          <a:p>
            <a:pPr algn="l">
              <a:lnSpc>
                <a:spcPct val="104000"/>
              </a:lnSpc>
              <a:spcAft>
                <a:spcPts val="700"/>
              </a:spcAft>
            </a:pPr>
            <a:r>
              <a:rPr sz="1250" b="1" i="0">
                <a:solidFill>
                  <a:srgbClr val="2D5FC1"/>
                </a:solidFill>
                <a:latin typeface="Arial"/>
              </a:rPr>
              <a:t>▪  </a:t>
            </a:r>
            <a:r>
              <a:rPr sz="1250" b="1" i="0">
                <a:solidFill>
                  <a:srgbClr val="1F2A44"/>
                </a:solidFill>
                <a:latin typeface="Arial"/>
              </a:rPr>
              <a:t>Плотный live-ops календарь</a:t>
            </a:r>
            <a:r>
              <a:rPr sz="1250" b="0" i="0">
                <a:solidFill>
                  <a:srgbClr val="1F2A44"/>
                </a:solidFill>
                <a:latin typeface="Arial"/>
              </a:rPr>
              <a:t> — 6+ параллельных событий, пики — по выходным</a:t>
            </a:r>
          </a:p>
          <a:p>
            <a:pPr algn="l">
              <a:lnSpc>
                <a:spcPct val="104000"/>
              </a:lnSpc>
              <a:spcAft>
                <a:spcPts val="700"/>
              </a:spcAft>
            </a:pPr>
            <a:r>
              <a:rPr sz="1250" b="1" i="0">
                <a:solidFill>
                  <a:srgbClr val="2D5FC1"/>
                </a:solidFill>
                <a:latin typeface="Arial"/>
              </a:rPr>
              <a:t>▪  </a:t>
            </a:r>
            <a:r>
              <a:rPr sz="1250" b="1" i="0">
                <a:solidFill>
                  <a:srgbClr val="1F2A44"/>
                </a:solidFill>
                <a:latin typeface="Arial"/>
              </a:rPr>
              <a:t>«Уважение к игроку»</a:t>
            </a:r>
            <a:r>
              <a:rPr sz="1250" b="0" i="0">
                <a:solidFill>
                  <a:srgbClr val="1F2A44"/>
                </a:solidFill>
                <a:latin typeface="Arial"/>
              </a:rPr>
              <a:t> — без принудительной рекламы, бесплатный шаффл, щедрый старт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5870448"/>
            <a:ext cx="11201400" cy="475488"/>
          </a:xfrm>
          <a:prstGeom prst="roundRect">
            <a:avLst>
              <a:gd name="adj" fmla="val 14000"/>
            </a:avLst>
          </a:prstGeom>
          <a:solidFill>
            <a:srgbClr val="FAF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02920" y="5870448"/>
            <a:ext cx="82296" cy="475488"/>
          </a:xfrm>
          <a:prstGeom prst="rect">
            <a:avLst/>
          </a:prstGeom>
          <a:solidFill>
            <a:srgbClr val="E0A2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58952" y="5870448"/>
            <a:ext cx="1074420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300" b="1" i="0">
                <a:solidFill>
                  <a:srgbClr val="E0A238"/>
                </a:solidFill>
                <a:latin typeface="Arial"/>
              </a:rPr>
              <a:t>→  </a:t>
            </a:r>
            <a:r>
              <a:rPr sz="1250" b="0" i="0">
                <a:solidFill>
                  <a:srgbClr val="1F2A44"/>
                </a:solidFill>
                <a:latin typeface="Arial"/>
              </a:rPr>
              <a:t>Обе игры удерживают игрока, но разными «крючками»: Gardenscapes — привязанностью к прогрессу меты, Royal Match — азартом и темпом самого core-геймплея.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64739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5A6478"/>
                </a:solidFill>
                <a:latin typeface="Arial"/>
              </a:rPr>
              <a:t>Gardenscapes × Royal Match — сравнительный анализ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292840" y="6473952"/>
            <a:ext cx="411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900" b="1" i="0">
                <a:solidFill>
                  <a:srgbClr val="5A6478"/>
                </a:solidFill>
                <a:latin typeface="Arial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384048"/>
            <a:ext cx="3217773" cy="310896"/>
          </a:xfrm>
          <a:prstGeom prst="roundRect">
            <a:avLst>
              <a:gd name="adj" fmla="val 50000"/>
            </a:avLst>
          </a:prstGeom>
          <a:solidFill>
            <a:srgbClr val="2F8F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73152" rIns="73152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ВОПРОС 1 · ВОВЛЕЧЕНИЕ И УДЕРЖАНИЕ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04672"/>
            <a:ext cx="111556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700" b="1" i="0">
                <a:solidFill>
                  <a:srgbClr val="1F2A44"/>
                </a:solidFill>
                <a:latin typeface="Arial"/>
              </a:rPr>
              <a:t>Дизайн-решения Gardenscapes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1481328"/>
            <a:ext cx="1234440" cy="38100"/>
          </a:xfrm>
          <a:prstGeom prst="rect">
            <a:avLst/>
          </a:prstGeom>
          <a:solidFill>
            <a:srgbClr val="2F8F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02920" y="1737360"/>
            <a:ext cx="5486400" cy="237744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9525">
            <a:solidFill>
              <a:srgbClr val="DE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1737360"/>
            <a:ext cx="82296" cy="2377440"/>
          </a:xfrm>
          <a:prstGeom prst="rect">
            <a:avLst/>
          </a:prstGeom>
          <a:solidFill>
            <a:srgbClr val="2F8F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58952" y="1892808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F8F4E"/>
                </a:solidFill>
                <a:latin typeface="Arial"/>
              </a:rPr>
              <a:t>Мета и нарратив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952" y="2304288"/>
            <a:ext cx="498348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700"/>
              </a:spcAft>
            </a:pPr>
            <a:r>
              <a:rPr sz="1250" b="1" i="0">
                <a:solidFill>
                  <a:srgbClr val="2F8F4E"/>
                </a:solidFill>
                <a:latin typeface="Arial"/>
              </a:rPr>
              <a:t>▪  </a:t>
            </a:r>
            <a:r>
              <a:rPr sz="1250" b="1" i="0">
                <a:solidFill>
                  <a:srgbClr val="1F2A44"/>
                </a:solidFill>
                <a:latin typeface="Arial"/>
              </a:rPr>
              <a:t>Незавершённый сад (эффект Зейгарник)</a:t>
            </a:r>
            <a:r>
              <a:rPr sz="1250" b="0" i="0">
                <a:solidFill>
                  <a:srgbClr val="1F2A44"/>
                </a:solidFill>
                <a:latin typeface="Arial"/>
              </a:rPr>
              <a:t> — всегда есть начатая, но не законченная зона — она «тянет» вернуться</a:t>
            </a:r>
          </a:p>
          <a:p>
            <a:pPr algn="l">
              <a:lnSpc>
                <a:spcPct val="104000"/>
              </a:lnSpc>
              <a:spcAft>
                <a:spcPts val="700"/>
              </a:spcAft>
            </a:pPr>
            <a:r>
              <a:rPr sz="1250" b="1" i="0">
                <a:solidFill>
                  <a:srgbClr val="2F8F4E"/>
                </a:solidFill>
                <a:latin typeface="Arial"/>
              </a:rPr>
              <a:t>▪  </a:t>
            </a:r>
            <a:r>
              <a:rPr sz="1250" b="1" i="0">
                <a:solidFill>
                  <a:srgbClr val="1F2A44"/>
                </a:solidFill>
                <a:latin typeface="Arial"/>
              </a:rPr>
              <a:t>Звёзды как валюта прогресса</a:t>
            </a:r>
            <a:r>
              <a:rPr sz="1250" b="0" i="0">
                <a:solidFill>
                  <a:srgbClr val="1F2A44"/>
                </a:solidFill>
                <a:latin typeface="Arial"/>
              </a:rPr>
              <a:t> — уровень → звезда → задача в саду: каждый уровень осмыслен</a:t>
            </a:r>
          </a:p>
          <a:p>
            <a:pPr algn="l">
              <a:lnSpc>
                <a:spcPct val="104000"/>
              </a:lnSpc>
              <a:spcAft>
                <a:spcPts val="700"/>
              </a:spcAft>
            </a:pPr>
            <a:r>
              <a:rPr sz="1250" b="1" i="0">
                <a:solidFill>
                  <a:srgbClr val="2F8F4E"/>
                </a:solidFill>
                <a:latin typeface="Arial"/>
              </a:rPr>
              <a:t>▪  </a:t>
            </a:r>
            <a:r>
              <a:rPr sz="1250" b="1" i="0">
                <a:solidFill>
                  <a:srgbClr val="1F2A44"/>
                </a:solidFill>
                <a:latin typeface="Arial"/>
              </a:rPr>
              <a:t>Остин и сюжет</a:t>
            </a:r>
            <a:r>
              <a:rPr sz="1250" b="0" i="0">
                <a:solidFill>
                  <a:srgbClr val="1F2A44"/>
                </a:solidFill>
                <a:latin typeface="Arial"/>
              </a:rPr>
              <a:t> — персонаж-компаньон реагирует на прогресс, создаёт эмоциональный контекст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737360"/>
            <a:ext cx="5486400" cy="237744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9525">
            <a:solidFill>
              <a:srgbClr val="DE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17920" y="1737360"/>
            <a:ext cx="82296" cy="2377440"/>
          </a:xfrm>
          <a:prstGeom prst="rect">
            <a:avLst/>
          </a:prstGeom>
          <a:solidFill>
            <a:srgbClr val="2F8F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73952" y="1892808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F8F4E"/>
                </a:solidFill>
                <a:latin typeface="Arial"/>
              </a:rPr>
              <a:t>Ритм возвращений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73952" y="2304288"/>
            <a:ext cx="498348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700"/>
              </a:spcAft>
            </a:pPr>
            <a:r>
              <a:rPr sz="1250" b="1" i="0">
                <a:solidFill>
                  <a:srgbClr val="2F8F4E"/>
                </a:solidFill>
                <a:latin typeface="Arial"/>
              </a:rPr>
              <a:t>▪  </a:t>
            </a:r>
            <a:r>
              <a:rPr sz="1250" b="1" i="0">
                <a:solidFill>
                  <a:srgbClr val="1F2A44"/>
                </a:solidFill>
                <a:latin typeface="Arial"/>
              </a:rPr>
              <a:t>Игровой день = эпизод</a:t>
            </a:r>
            <a:r>
              <a:rPr sz="1250" b="0" i="0">
                <a:solidFill>
                  <a:srgbClr val="1F2A44"/>
                </a:solidFill>
                <a:latin typeface="Arial"/>
              </a:rPr>
              <a:t> — естественная точка выхода и повод вернуться завтра</a:t>
            </a:r>
          </a:p>
          <a:p>
            <a:pPr algn="l">
              <a:lnSpc>
                <a:spcPct val="104000"/>
              </a:lnSpc>
              <a:spcAft>
                <a:spcPts val="700"/>
              </a:spcAft>
            </a:pPr>
            <a:r>
              <a:rPr sz="1250" b="1" i="0">
                <a:solidFill>
                  <a:srgbClr val="2F8F4E"/>
                </a:solidFill>
                <a:latin typeface="Arial"/>
              </a:rPr>
              <a:t>▪  </a:t>
            </a:r>
            <a:r>
              <a:rPr sz="1250" b="1" i="0">
                <a:solidFill>
                  <a:srgbClr val="1F2A44"/>
                </a:solidFill>
                <a:latin typeface="Arial"/>
              </a:rPr>
              <a:t>Ежедневные награды и колесо удачи</a:t>
            </a:r>
            <a:r>
              <a:rPr sz="1250" b="0" i="0">
                <a:solidFill>
                  <a:srgbClr val="1F2A44"/>
                </a:solidFill>
                <a:latin typeface="Arial"/>
              </a:rPr>
              <a:t> — привычка ежедневного захода</a:t>
            </a:r>
          </a:p>
          <a:p>
            <a:pPr algn="l">
              <a:lnSpc>
                <a:spcPct val="104000"/>
              </a:lnSpc>
              <a:spcAft>
                <a:spcPts val="700"/>
              </a:spcAft>
            </a:pPr>
            <a:r>
              <a:rPr sz="1250" b="1" i="0">
                <a:solidFill>
                  <a:srgbClr val="2F8F4E"/>
                </a:solidFill>
                <a:latin typeface="Arial"/>
              </a:rPr>
              <a:t>▪  </a:t>
            </a:r>
            <a:r>
              <a:rPr sz="1250" b="1" i="0">
                <a:solidFill>
                  <a:srgbClr val="1F2A44"/>
                </a:solidFill>
                <a:latin typeface="Arial"/>
              </a:rPr>
              <a:t>Сезонные события и декор</a:t>
            </a:r>
            <a:r>
              <a:rPr sz="1250" b="0" i="0">
                <a:solidFill>
                  <a:srgbClr val="1F2A44"/>
                </a:solidFill>
                <a:latin typeface="Arial"/>
              </a:rPr>
              <a:t> — ограниченные по времени украшения — FOMO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4279392"/>
            <a:ext cx="5486400" cy="160020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9525">
            <a:solidFill>
              <a:srgbClr val="DE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02920" y="4279392"/>
            <a:ext cx="82296" cy="1600200"/>
          </a:xfrm>
          <a:prstGeom prst="rect">
            <a:avLst/>
          </a:prstGeom>
          <a:solidFill>
            <a:srgbClr val="2F8F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58952" y="4434840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F8F4E"/>
                </a:solidFill>
                <a:latin typeface="Arial"/>
              </a:rPr>
              <a:t>Социальный слой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58952" y="4846320"/>
            <a:ext cx="49834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700"/>
              </a:spcAft>
            </a:pPr>
            <a:r>
              <a:rPr sz="1250" b="1" i="0">
                <a:solidFill>
                  <a:srgbClr val="2F8F4E"/>
                </a:solidFill>
                <a:latin typeface="Arial"/>
              </a:rPr>
              <a:t>▪  </a:t>
            </a:r>
            <a:r>
              <a:rPr sz="1250" b="1" i="0">
                <a:solidFill>
                  <a:srgbClr val="1F2A44"/>
                </a:solidFill>
                <a:latin typeface="Arial"/>
              </a:rPr>
              <a:t>Команды</a:t>
            </a:r>
            <a:r>
              <a:rPr sz="1250" b="0" i="0">
                <a:solidFill>
                  <a:srgbClr val="1F2A44"/>
                </a:solidFill>
                <a:latin typeface="Arial"/>
              </a:rPr>
              <a:t> — обмен жизнями, чат — социальное обязательство</a:t>
            </a:r>
          </a:p>
          <a:p>
            <a:pPr algn="l">
              <a:lnSpc>
                <a:spcPct val="104000"/>
              </a:lnSpc>
              <a:spcAft>
                <a:spcPts val="700"/>
              </a:spcAft>
            </a:pPr>
            <a:r>
              <a:rPr sz="1250" b="1" i="0">
                <a:solidFill>
                  <a:srgbClr val="2F8F4E"/>
                </a:solidFill>
                <a:latin typeface="Arial"/>
              </a:rPr>
              <a:t>▪  </a:t>
            </a:r>
            <a:r>
              <a:rPr sz="1250" b="1" i="0">
                <a:solidFill>
                  <a:srgbClr val="1F2A44"/>
                </a:solidFill>
                <a:latin typeface="Arial"/>
              </a:rPr>
              <a:t>Турниры и лидерборды</a:t>
            </a:r>
            <a:r>
              <a:rPr sz="1250" b="0" i="0">
                <a:solidFill>
                  <a:srgbClr val="1F2A44"/>
                </a:solidFill>
                <a:latin typeface="Arial"/>
              </a:rPr>
              <a:t> — соревнование как причина «ещё одного уровня»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17920" y="4279392"/>
            <a:ext cx="5486400" cy="160020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9525">
            <a:solidFill>
              <a:srgbClr val="DE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17920" y="4279392"/>
            <a:ext cx="82296" cy="1600200"/>
          </a:xfrm>
          <a:prstGeom prst="rect">
            <a:avLst/>
          </a:prstGeom>
          <a:solidFill>
            <a:srgbClr val="2F8F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73952" y="4434840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F8F4E"/>
                </a:solidFill>
                <a:latin typeface="Arial"/>
              </a:rPr>
              <a:t>Экономика удержания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73952" y="4846320"/>
            <a:ext cx="49834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700"/>
              </a:spcAft>
            </a:pPr>
            <a:r>
              <a:rPr sz="1250" b="1" i="0">
                <a:solidFill>
                  <a:srgbClr val="2F8F4E"/>
                </a:solidFill>
                <a:latin typeface="Arial"/>
              </a:rPr>
              <a:t>▪  </a:t>
            </a:r>
            <a:r>
              <a:rPr sz="1250" b="1" i="0">
                <a:solidFill>
                  <a:srgbClr val="1F2A44"/>
                </a:solidFill>
                <a:latin typeface="Arial"/>
              </a:rPr>
              <a:t>Жизни (5 шт.)</a:t>
            </a:r>
            <a:r>
              <a:rPr sz="1250" b="0" i="0">
                <a:solidFill>
                  <a:srgbClr val="1F2A44"/>
                </a:solidFill>
                <a:latin typeface="Arial"/>
              </a:rPr>
              <a:t> — пауза при проигрышах → «вернись позже» и защита от выгорания</a:t>
            </a:r>
          </a:p>
          <a:p>
            <a:pPr algn="l">
              <a:lnSpc>
                <a:spcPct val="104000"/>
              </a:lnSpc>
              <a:spcAft>
                <a:spcPts val="700"/>
              </a:spcAft>
            </a:pPr>
            <a:r>
              <a:rPr sz="1250" b="1" i="0">
                <a:solidFill>
                  <a:srgbClr val="2F8F4E"/>
                </a:solidFill>
                <a:latin typeface="Arial"/>
              </a:rPr>
              <a:t>▪  </a:t>
            </a:r>
            <a:r>
              <a:rPr sz="1250" b="1" i="0">
                <a:solidFill>
                  <a:srgbClr val="1F2A44"/>
                </a:solidFill>
                <a:latin typeface="Arial"/>
              </a:rPr>
              <a:t>Бустеры и монеты</a:t>
            </a:r>
            <a:r>
              <a:rPr sz="1250" b="0" i="0">
                <a:solidFill>
                  <a:srgbClr val="1F2A44"/>
                </a:solidFill>
                <a:latin typeface="Arial"/>
              </a:rPr>
              <a:t> — накопление ресурсов привязывает к аккаунту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64739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5A6478"/>
                </a:solidFill>
                <a:latin typeface="Arial"/>
              </a:rPr>
              <a:t>Gardenscapes × Royal Match — сравнительный анализ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292840" y="6473952"/>
            <a:ext cx="411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900" b="1" i="0">
                <a:solidFill>
                  <a:srgbClr val="5A6478"/>
                </a:solidFill>
                <a:latin typeface="Arial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384048"/>
            <a:ext cx="3217773" cy="310896"/>
          </a:xfrm>
          <a:prstGeom prst="roundRect">
            <a:avLst>
              <a:gd name="adj" fmla="val 50000"/>
            </a:avLst>
          </a:prstGeom>
          <a:solidFill>
            <a:srgbClr val="2D5F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73152" rIns="73152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ВОПРОС 1 · ВОВЛЕЧЕНИЕ И УДЕРЖАНИЕ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04672"/>
            <a:ext cx="111556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700" b="1" i="0">
                <a:solidFill>
                  <a:srgbClr val="1F2A44"/>
                </a:solidFill>
                <a:latin typeface="Arial"/>
              </a:rPr>
              <a:t>Дизайн-решения Royal Match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1481328"/>
            <a:ext cx="1234440" cy="38100"/>
          </a:xfrm>
          <a:prstGeom prst="rect">
            <a:avLst/>
          </a:prstGeom>
          <a:solidFill>
            <a:srgbClr val="2D5F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02920" y="1737360"/>
            <a:ext cx="5486400" cy="237744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9525">
            <a:solidFill>
              <a:srgbClr val="DE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1737360"/>
            <a:ext cx="82296" cy="2377440"/>
          </a:xfrm>
          <a:prstGeom prst="rect">
            <a:avLst/>
          </a:prstGeom>
          <a:solidFill>
            <a:srgbClr val="2D5F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58952" y="1892808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D5FC1"/>
                </a:solidFill>
                <a:latin typeface="Arial"/>
              </a:rPr>
              <a:t>Азарт и темп core-игры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952" y="2304288"/>
            <a:ext cx="498348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700"/>
              </a:spcAft>
            </a:pPr>
            <a:r>
              <a:rPr sz="1250" b="1" i="0">
                <a:solidFill>
                  <a:srgbClr val="2D5FC1"/>
                </a:solidFill>
                <a:latin typeface="Arial"/>
              </a:rPr>
              <a:t>▪  </a:t>
            </a:r>
            <a:r>
              <a:rPr sz="1250" b="1" i="0">
                <a:solidFill>
                  <a:srgbClr val="1F2A44"/>
                </a:solidFill>
                <a:latin typeface="Arial"/>
              </a:rPr>
              <a:t>Win-streak → Super Light Ball</a:t>
            </a:r>
            <a:r>
              <a:rPr sz="1250" b="0" i="0">
                <a:solidFill>
                  <a:srgbClr val="1F2A44"/>
                </a:solidFill>
                <a:latin typeface="Arial"/>
              </a:rPr>
              <a:t> — серия побед даёт мощный бонус на старте; проигрыш сбрасывает серию — сильнейший стимул «не проиграть»</a:t>
            </a:r>
          </a:p>
          <a:p>
            <a:pPr algn="l">
              <a:lnSpc>
                <a:spcPct val="104000"/>
              </a:lnSpc>
              <a:spcAft>
                <a:spcPts val="700"/>
              </a:spcAft>
            </a:pPr>
            <a:r>
              <a:rPr sz="1250" b="1" i="0">
                <a:solidFill>
                  <a:srgbClr val="2D5FC1"/>
                </a:solidFill>
                <a:latin typeface="Arial"/>
              </a:rPr>
              <a:t>▪  </a:t>
            </a:r>
            <a:r>
              <a:rPr sz="1250" b="1" i="0">
                <a:solidFill>
                  <a:srgbClr val="1F2A44"/>
                </a:solidFill>
                <a:latin typeface="Arial"/>
              </a:rPr>
              <a:t>Осцилляция сложности</a:t>
            </a:r>
            <a:r>
              <a:rPr sz="1250" b="0" i="0">
                <a:solidFill>
                  <a:srgbClr val="1F2A44"/>
                </a:solidFill>
                <a:latin typeface="Arial"/>
              </a:rPr>
              <a:t> — чередование лёгких и сложных уровней: пики напряжения + «отдых» → эмоциональные качели</a:t>
            </a:r>
          </a:p>
          <a:p>
            <a:pPr algn="l">
              <a:lnSpc>
                <a:spcPct val="104000"/>
              </a:lnSpc>
              <a:spcAft>
                <a:spcPts val="700"/>
              </a:spcAft>
            </a:pPr>
            <a:r>
              <a:rPr sz="1250" b="1" i="0">
                <a:solidFill>
                  <a:srgbClr val="2D5FC1"/>
                </a:solidFill>
                <a:latin typeface="Arial"/>
              </a:rPr>
              <a:t>▪  </a:t>
            </a:r>
            <a:r>
              <a:rPr sz="1250" b="1" i="0">
                <a:solidFill>
                  <a:srgbClr val="1F2A44"/>
                </a:solidFill>
                <a:latin typeface="Arial"/>
              </a:rPr>
              <a:t>King's Nightmare</a:t>
            </a:r>
            <a:r>
              <a:rPr sz="1250" b="0" i="0">
                <a:solidFill>
                  <a:srgbClr val="1F2A44"/>
                </a:solidFill>
                <a:latin typeface="Arial"/>
              </a:rPr>
              <a:t> — milestone-уровни-испытания с возможностью пропуска — ощущение выбора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737360"/>
            <a:ext cx="5486400" cy="237744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9525">
            <a:solidFill>
              <a:srgbClr val="DE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17920" y="1737360"/>
            <a:ext cx="82296" cy="2377440"/>
          </a:xfrm>
          <a:prstGeom prst="rect">
            <a:avLst/>
          </a:prstGeom>
          <a:solidFill>
            <a:srgbClr val="2D5F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73952" y="1892808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D5FC1"/>
                </a:solidFill>
                <a:latin typeface="Arial"/>
              </a:rPr>
              <a:t>Доверие как механика удержания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73952" y="2304288"/>
            <a:ext cx="498348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700"/>
              </a:spcAft>
            </a:pPr>
            <a:r>
              <a:rPr sz="1250" b="1" i="0">
                <a:solidFill>
                  <a:srgbClr val="2D5FC1"/>
                </a:solidFill>
                <a:latin typeface="Arial"/>
              </a:rPr>
              <a:t>▪  </a:t>
            </a:r>
            <a:r>
              <a:rPr sz="1250" b="1" i="0">
                <a:solidFill>
                  <a:srgbClr val="1F2A44"/>
                </a:solidFill>
                <a:latin typeface="Arial"/>
              </a:rPr>
              <a:t>Бесплатный шаффл</a:t>
            </a:r>
            <a:r>
              <a:rPr sz="1250" b="0" i="0">
                <a:solidFill>
                  <a:srgbClr val="1F2A44"/>
                </a:solidFill>
                <a:latin typeface="Arial"/>
              </a:rPr>
              <a:t> — нет ходов — поле перемешивается бесплатно, а не за бустер</a:t>
            </a:r>
          </a:p>
          <a:p>
            <a:pPr algn="l">
              <a:lnSpc>
                <a:spcPct val="104000"/>
              </a:lnSpc>
              <a:spcAft>
                <a:spcPts val="700"/>
              </a:spcAft>
            </a:pPr>
            <a:r>
              <a:rPr sz="1250" b="1" i="0">
                <a:solidFill>
                  <a:srgbClr val="2D5FC1"/>
                </a:solidFill>
                <a:latin typeface="Arial"/>
              </a:rPr>
              <a:t>▪  </a:t>
            </a:r>
            <a:r>
              <a:rPr sz="1250" b="1" i="0">
                <a:solidFill>
                  <a:srgbClr val="1F2A44"/>
                </a:solidFill>
                <a:latin typeface="Arial"/>
              </a:rPr>
              <a:t>Только IAP, ноль принудительной рекламы</a:t>
            </a:r>
            <a:r>
              <a:rPr sz="1250" b="0" i="0">
                <a:solidFill>
                  <a:srgbClr val="1F2A44"/>
                </a:solidFill>
                <a:latin typeface="Arial"/>
              </a:rPr>
              <a:t> — session flow не прерывается</a:t>
            </a:r>
          </a:p>
          <a:p>
            <a:pPr algn="l">
              <a:lnSpc>
                <a:spcPct val="104000"/>
              </a:lnSpc>
              <a:spcAft>
                <a:spcPts val="700"/>
              </a:spcAft>
            </a:pPr>
            <a:r>
              <a:rPr sz="1250" b="1" i="0">
                <a:solidFill>
                  <a:srgbClr val="2D5FC1"/>
                </a:solidFill>
                <a:latin typeface="Arial"/>
              </a:rPr>
              <a:t>▪  </a:t>
            </a:r>
            <a:r>
              <a:rPr sz="1250" b="1" i="0">
                <a:solidFill>
                  <a:srgbClr val="1F2A44"/>
                </a:solidFill>
                <a:latin typeface="Arial"/>
              </a:rPr>
              <a:t>Щедрый онбординг</a:t>
            </a:r>
            <a:r>
              <a:rPr sz="1250" b="0" i="0">
                <a:solidFill>
                  <a:srgbClr val="1F2A44"/>
                </a:solidFill>
                <a:latin typeface="Arial"/>
              </a:rPr>
              <a:t> — много наград на старте → доверие → конверсия позже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4279392"/>
            <a:ext cx="5486400" cy="160020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9525">
            <a:solidFill>
              <a:srgbClr val="DE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02920" y="4279392"/>
            <a:ext cx="82296" cy="1600200"/>
          </a:xfrm>
          <a:prstGeom prst="rect">
            <a:avLst/>
          </a:prstGeom>
          <a:solidFill>
            <a:srgbClr val="2D5F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58952" y="4434840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D5FC1"/>
                </a:solidFill>
                <a:latin typeface="Arial"/>
              </a:rPr>
              <a:t>Live-ops календарь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58952" y="4846320"/>
            <a:ext cx="49834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700"/>
              </a:spcAft>
            </a:pPr>
            <a:r>
              <a:rPr sz="1250" b="1" i="0">
                <a:solidFill>
                  <a:srgbClr val="2D5FC1"/>
                </a:solidFill>
                <a:latin typeface="Arial"/>
              </a:rPr>
              <a:t>▪  </a:t>
            </a:r>
            <a:r>
              <a:rPr sz="1250" b="1" i="0">
                <a:solidFill>
                  <a:srgbClr val="1F2A44"/>
                </a:solidFill>
                <a:latin typeface="Arial"/>
              </a:rPr>
              <a:t>6+ параллельных событий</a:t>
            </a:r>
            <a:r>
              <a:rPr sz="1250" b="0" i="0">
                <a:solidFill>
                  <a:srgbClr val="1F2A44"/>
                </a:solidFill>
                <a:latin typeface="Arial"/>
              </a:rPr>
              <a:t> — Team Battle, Weekly Contest, альбомы-коллекции, кооп «поезд»</a:t>
            </a:r>
          </a:p>
          <a:p>
            <a:pPr algn="l">
              <a:lnSpc>
                <a:spcPct val="104000"/>
              </a:lnSpc>
              <a:spcAft>
                <a:spcPts val="700"/>
              </a:spcAft>
            </a:pPr>
            <a:r>
              <a:rPr sz="1250" b="1" i="0">
                <a:solidFill>
                  <a:srgbClr val="2D5FC1"/>
                </a:solidFill>
                <a:latin typeface="Arial"/>
              </a:rPr>
              <a:t>▪  </a:t>
            </a:r>
            <a:r>
              <a:rPr sz="1250" b="1" i="0">
                <a:solidFill>
                  <a:srgbClr val="1F2A44"/>
                </a:solidFill>
                <a:latin typeface="Arial"/>
              </a:rPr>
              <a:t>Пики по выходным</a:t>
            </a:r>
            <a:r>
              <a:rPr sz="1250" b="0" i="0">
                <a:solidFill>
                  <a:srgbClr val="1F2A44"/>
                </a:solidFill>
                <a:latin typeface="Arial"/>
              </a:rPr>
              <a:t> — выручка растёт за счёт событий, а не роста DAU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17920" y="4279392"/>
            <a:ext cx="5486400" cy="160020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9525">
            <a:solidFill>
              <a:srgbClr val="DE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17920" y="4279392"/>
            <a:ext cx="82296" cy="1600200"/>
          </a:xfrm>
          <a:prstGeom prst="rect">
            <a:avLst/>
          </a:prstGeom>
          <a:solidFill>
            <a:srgbClr val="2D5F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73952" y="4434840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D5FC1"/>
                </a:solidFill>
                <a:latin typeface="Arial"/>
              </a:rPr>
              <a:t>Эндгейм и лёгкая мета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73952" y="4846320"/>
            <a:ext cx="49834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700"/>
              </a:spcAft>
            </a:pPr>
            <a:r>
              <a:rPr sz="1250" b="1" i="0">
                <a:solidFill>
                  <a:srgbClr val="2D5FC1"/>
                </a:solidFill>
                <a:latin typeface="Arial"/>
              </a:rPr>
              <a:t>▪  </a:t>
            </a:r>
            <a:r>
              <a:rPr sz="1250" b="1" i="0">
                <a:solidFill>
                  <a:srgbClr val="1F2A44"/>
                </a:solidFill>
                <a:latin typeface="Arial"/>
              </a:rPr>
              <a:t>Royal League</a:t>
            </a:r>
            <a:r>
              <a:rPr sz="1250" b="0" i="0">
                <a:solidFill>
                  <a:srgbClr val="1F2A44"/>
                </a:solidFill>
                <a:latin typeface="Arial"/>
              </a:rPr>
              <a:t> — турнир на 20 игроков для «доигравших контент»</a:t>
            </a:r>
          </a:p>
          <a:p>
            <a:pPr algn="l">
              <a:lnSpc>
                <a:spcPct val="104000"/>
              </a:lnSpc>
              <a:spcAft>
                <a:spcPts val="700"/>
              </a:spcAft>
            </a:pPr>
            <a:r>
              <a:rPr sz="1250" b="1" i="0">
                <a:solidFill>
                  <a:srgbClr val="2D5FC1"/>
                </a:solidFill>
                <a:latin typeface="Arial"/>
              </a:rPr>
              <a:t>▪  </a:t>
            </a:r>
            <a:r>
              <a:rPr sz="1250" b="1" i="0">
                <a:solidFill>
                  <a:srgbClr val="1F2A44"/>
                </a:solidFill>
                <a:latin typeface="Arial"/>
              </a:rPr>
              <a:t>Декор областей</a:t>
            </a:r>
            <a:r>
              <a:rPr sz="1250" b="0" i="0">
                <a:solidFill>
                  <a:srgbClr val="1F2A44"/>
                </a:solidFill>
                <a:latin typeface="Arial"/>
              </a:rPr>
              <a:t> — мета в один тап — прогресс без когнитивной нагрузки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64739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5A6478"/>
                </a:solidFill>
                <a:latin typeface="Arial"/>
              </a:rPr>
              <a:t>Gardenscapes × Royal Match — сравнительный анализ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292840" y="6473952"/>
            <a:ext cx="411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900" b="1" i="0">
                <a:solidFill>
                  <a:srgbClr val="5A6478"/>
                </a:solidFill>
                <a:latin typeface="Arial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384048"/>
            <a:ext cx="2622499" cy="310896"/>
          </a:xfrm>
          <a:prstGeom prst="roundRect">
            <a:avLst>
              <a:gd name="adj" fmla="val 50000"/>
            </a:avLst>
          </a:prstGeom>
          <a:solidFill>
            <a:srgbClr val="E0A2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73152" rIns="73152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ВОПРОС 1 · ОБЩИЙ ФУНДАМЕНТ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04672"/>
            <a:ext cx="111556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700" b="1" i="0">
                <a:solidFill>
                  <a:srgbClr val="1F2A44"/>
                </a:solidFill>
                <a:latin typeface="Arial"/>
              </a:rPr>
              <a:t>Психологические приёмы: одна база — разные акценты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1481328"/>
            <a:ext cx="1234440" cy="38100"/>
          </a:xfrm>
          <a:prstGeom prst="rect">
            <a:avLst/>
          </a:prstGeom>
          <a:solidFill>
            <a:srgbClr val="E0A2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737360"/>
          <a:ext cx="11201400" cy="3291840"/>
        </p:xfrm>
        <a:graphic>
          <a:graphicData uri="http://schemas.openxmlformats.org/drawingml/2006/table">
            <a:tbl>
              <a:tblPr/>
              <a:tblGrid>
                <a:gridCol w="2743200"/>
                <a:gridCol w="4206240"/>
                <a:gridCol w="4251960"/>
              </a:tblGrid>
              <a:tr h="548640"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150" b="1" i="0">
                          <a:solidFill>
                            <a:srgbClr val="FFFFFF"/>
                          </a:solidFill>
                          <a:latin typeface="Arial"/>
                        </a:rPr>
                        <a:t>Приём</a:t>
                      </a:r>
                    </a:p>
                  </a:txBody>
                  <a:tcPr anchor="ctr" marL="91440" marR="91440" marT="41148" marB="41148">
                    <a:solidFill>
                      <a:srgbClr val="1F2A4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150" b="1" i="0">
                          <a:solidFill>
                            <a:srgbClr val="FFFFFF"/>
                          </a:solidFill>
                          <a:latin typeface="Arial"/>
                        </a:rPr>
                        <a:t>Gardenscapes</a:t>
                      </a:r>
                    </a:p>
                  </a:txBody>
                  <a:tcPr anchor="ctr" marL="91440" marR="91440" marT="41148" marB="41148">
                    <a:solidFill>
                      <a:srgbClr val="2F8F4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150" b="1" i="0">
                          <a:solidFill>
                            <a:srgbClr val="FFFFFF"/>
                          </a:solidFill>
                          <a:latin typeface="Arial"/>
                        </a:rPr>
                        <a:t>Royal Match</a:t>
                      </a:r>
                    </a:p>
                  </a:txBody>
                  <a:tcPr anchor="ctr" marL="91440" marR="91440" marT="41148" marB="41148">
                    <a:solidFill>
                      <a:srgbClr val="2D5FC1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100" b="1" i="0">
                          <a:solidFill>
                            <a:srgbClr val="1F2A44"/>
                          </a:solidFill>
                          <a:latin typeface="Arial"/>
                        </a:rPr>
                        <a:t>Loss aversion (страх потери)</a:t>
                      </a:r>
                    </a:p>
                  </a:txBody>
                  <a:tcPr anchor="ctr" marL="91440" marR="91440" marT="41148" marB="4114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100" b="0" i="0">
                          <a:solidFill>
                            <a:srgbClr val="1F2A44"/>
                          </a:solidFill>
                          <a:latin typeface="Arial"/>
                        </a:rPr>
                        <a:t>Потеря жизни, сгорающие награды событий</a:t>
                      </a:r>
                    </a:p>
                  </a:txBody>
                  <a:tcPr anchor="ctr" marL="91440" marR="91440" marT="41148" marB="4114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100" b="0" i="0">
                          <a:solidFill>
                            <a:srgbClr val="1F2A44"/>
                          </a:solidFill>
                          <a:latin typeface="Arial"/>
                        </a:rPr>
                        <a:t>Проигрыш сбрасывает win-streak — главный денежный рычаг</a:t>
                      </a:r>
                    </a:p>
                  </a:txBody>
                  <a:tcPr anchor="ctr" marL="91440" marR="91440" marT="41148" marB="41148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100" b="1" i="0">
                          <a:solidFill>
                            <a:srgbClr val="1F2A44"/>
                          </a:solidFill>
                          <a:latin typeface="Arial"/>
                        </a:rPr>
                        <a:t>Near-miss («почти прошёл»)</a:t>
                      </a:r>
                    </a:p>
                  </a:txBody>
                  <a:tcPr anchor="ctr" marL="91440" marR="91440" marT="41148" marB="41148">
                    <a:solidFill>
                      <a:srgbClr val="F1EE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100" b="0" i="0">
                          <a:solidFill>
                            <a:srgbClr val="1F2A44"/>
                          </a:solidFill>
                          <a:latin typeface="Arial"/>
                        </a:rPr>
                        <a:t>«Не хватило 2 ходов» → оффер +5 ходов</a:t>
                      </a:r>
                    </a:p>
                  </a:txBody>
                  <a:tcPr anchor="ctr" marL="91440" marR="91440" marT="41148" marB="41148">
                    <a:solidFill>
                      <a:srgbClr val="F1EE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100" b="0" i="0">
                          <a:solidFill>
                            <a:srgbClr val="1F2A44"/>
                          </a:solidFill>
                          <a:latin typeface="Arial"/>
                        </a:rPr>
                        <a:t>То же ядро; уровни строятся под near-miss</a:t>
                      </a:r>
                    </a:p>
                  </a:txBody>
                  <a:tcPr anchor="ctr" marL="91440" marR="91440" marT="41148" marB="41148">
                    <a:solidFill>
                      <a:srgbClr val="F1EEE7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100" b="1" i="0">
                          <a:solidFill>
                            <a:srgbClr val="1F2A44"/>
                          </a:solidFill>
                          <a:latin typeface="Arial"/>
                        </a:rPr>
                        <a:t>Эффект Зейгарник</a:t>
                      </a:r>
                    </a:p>
                  </a:txBody>
                  <a:tcPr anchor="ctr" marL="91440" marR="91440" marT="41148" marB="4114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100" b="0" i="0">
                          <a:solidFill>
                            <a:srgbClr val="1F2A44"/>
                          </a:solidFill>
                          <a:latin typeface="Arial"/>
                        </a:rPr>
                        <a:t>Сад всегда «в ремонте», задачи дня открыты</a:t>
                      </a:r>
                    </a:p>
                  </a:txBody>
                  <a:tcPr anchor="ctr" marL="91440" marR="91440" marT="41148" marB="4114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100" b="0" i="0">
                          <a:solidFill>
                            <a:srgbClr val="1F2A44"/>
                          </a:solidFill>
                          <a:latin typeface="Arial"/>
                        </a:rPr>
                        <a:t>Недостроенная область, неполный альбом</a:t>
                      </a:r>
                    </a:p>
                  </a:txBody>
                  <a:tcPr anchor="ctr" marL="91440" marR="91440" marT="41148" marB="41148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100" b="1" i="0">
                          <a:solidFill>
                            <a:srgbClr val="1F2A44"/>
                          </a:solidFill>
                          <a:latin typeface="Arial"/>
                        </a:rPr>
                        <a:t>Переменные награды</a:t>
                      </a:r>
                    </a:p>
                  </a:txBody>
                  <a:tcPr anchor="ctr" marL="91440" marR="91440" marT="41148" marB="41148">
                    <a:solidFill>
                      <a:srgbClr val="F1EE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100" b="0" i="0">
                          <a:solidFill>
                            <a:srgbClr val="1F2A44"/>
                          </a:solidFill>
                          <a:latin typeface="Arial"/>
                        </a:rPr>
                        <a:t>Сундуки, колесо удачи, мини-игры</a:t>
                      </a:r>
                    </a:p>
                  </a:txBody>
                  <a:tcPr anchor="ctr" marL="91440" marR="91440" marT="41148" marB="41148">
                    <a:solidFill>
                      <a:srgbClr val="F1EE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100" b="0" i="0">
                          <a:solidFill>
                            <a:srgbClr val="1F2A44"/>
                          </a:solidFill>
                          <a:latin typeface="Arial"/>
                        </a:rPr>
                        <a:t>Пропеллер, карточные паки, мини-игры</a:t>
                      </a:r>
                    </a:p>
                  </a:txBody>
                  <a:tcPr anchor="ctr" marL="91440" marR="91440" marT="41148" marB="41148">
                    <a:solidFill>
                      <a:srgbClr val="F1EEE7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100" b="1" i="0">
                          <a:solidFill>
                            <a:srgbClr val="1F2A44"/>
                          </a:solidFill>
                          <a:latin typeface="Arial"/>
                        </a:rPr>
                        <a:t>Социальное обязательство</a:t>
                      </a:r>
                    </a:p>
                  </a:txBody>
                  <a:tcPr anchor="ctr" marL="91440" marR="91440" marT="41148" marB="4114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100" b="0" i="0">
                          <a:solidFill>
                            <a:srgbClr val="1F2A44"/>
                          </a:solidFill>
                          <a:latin typeface="Arial"/>
                        </a:rPr>
                        <a:t>Команды, обмен жизнями</a:t>
                      </a:r>
                    </a:p>
                  </a:txBody>
                  <a:tcPr anchor="ctr" marL="91440" marR="91440" marT="41148" marB="4114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100" b="0" i="0">
                          <a:solidFill>
                            <a:srgbClr val="1F2A44"/>
                          </a:solidFill>
                          <a:latin typeface="Arial"/>
                        </a:rPr>
                        <a:t>Кооп-события: главный приз — общий на команду</a:t>
                      </a:r>
                    </a:p>
                  </a:txBody>
                  <a:tcPr anchor="ctr" marL="91440" marR="91440" marT="41148" marB="4114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502920" y="5623560"/>
            <a:ext cx="11201400" cy="658368"/>
          </a:xfrm>
          <a:prstGeom prst="roundRect">
            <a:avLst>
              <a:gd name="adj" fmla="val 14000"/>
            </a:avLst>
          </a:prstGeom>
          <a:solidFill>
            <a:srgbClr val="FAF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5623560"/>
            <a:ext cx="82296" cy="658368"/>
          </a:xfrm>
          <a:prstGeom prst="rect">
            <a:avLst/>
          </a:prstGeom>
          <a:solidFill>
            <a:srgbClr val="E0A2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58952" y="5623560"/>
            <a:ext cx="1074420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300" b="1" i="0">
                <a:solidFill>
                  <a:srgbClr val="E0A238"/>
                </a:solidFill>
                <a:latin typeface="Arial"/>
              </a:rPr>
              <a:t>→  </a:t>
            </a:r>
            <a:r>
              <a:rPr sz="1200" b="0" i="0">
                <a:solidFill>
                  <a:srgbClr val="1F2A44"/>
                </a:solidFill>
                <a:latin typeface="Arial"/>
              </a:rPr>
              <a:t>Ключевая разница: Gardenscapes мотивирует «строй и возвращайся», Royal Match — «не прерывай серию». Второй приём короче по циклу и сильнее давит на сессионную активность.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4739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5A6478"/>
                </a:solidFill>
                <a:latin typeface="Arial"/>
              </a:rPr>
              <a:t>Gardenscapes × Royal Match — сравнительный анализ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92840" y="6473952"/>
            <a:ext cx="411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900" b="1" i="0">
                <a:solidFill>
                  <a:srgbClr val="5A6478"/>
                </a:solidFill>
                <a:latin typeface="Arial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384048"/>
            <a:ext cx="1091793" cy="310896"/>
          </a:xfrm>
          <a:prstGeom prst="roundRect">
            <a:avLst>
              <a:gd name="adj" fmla="val 50000"/>
            </a:avLst>
          </a:prstGeom>
          <a:solidFill>
            <a:srgbClr val="E0A2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73152" rIns="73152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ВОПРОС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04672"/>
            <a:ext cx="111556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700" b="1" i="0">
                <a:solidFill>
                  <a:srgbClr val="1F2A44"/>
                </a:solidFill>
                <a:latin typeface="Arial"/>
              </a:rPr>
              <a:t>Наиболее удачные решения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1481328"/>
            <a:ext cx="1234440" cy="38100"/>
          </a:xfrm>
          <a:prstGeom prst="rect">
            <a:avLst/>
          </a:prstGeom>
          <a:solidFill>
            <a:srgbClr val="E0A2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02920" y="1737360"/>
            <a:ext cx="5486400" cy="2240280"/>
          </a:xfrm>
          <a:prstGeom prst="roundRect">
            <a:avLst>
              <a:gd name="adj" fmla="val 4500"/>
            </a:avLst>
          </a:prstGeom>
          <a:solidFill>
            <a:srgbClr val="E3F1E6"/>
          </a:solidFill>
          <a:ln w="9525">
            <a:solidFill>
              <a:srgbClr val="DE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1737360"/>
            <a:ext cx="82296" cy="2240280"/>
          </a:xfrm>
          <a:prstGeom prst="rect">
            <a:avLst/>
          </a:prstGeom>
          <a:solidFill>
            <a:srgbClr val="2F8F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58952" y="1892808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F8F4E"/>
                </a:solidFill>
                <a:latin typeface="Arial"/>
              </a:rPr>
              <a:t>Gardenscapes: мета + сюжет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9120" y="1901952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F8F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73152" rIns="73152" tIns="0" bIns="0"/>
          <a:lstStyle/>
          <a:p>
            <a:pPr algn="ctr"/>
            <a:r>
              <a:rPr sz="950" b="1">
                <a:solidFill>
                  <a:srgbClr val="FFFFFF"/>
                </a:solidFill>
                <a:latin typeface="Arial"/>
              </a:rPr>
              <a:t>LTV / D30+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8952" y="2304288"/>
            <a:ext cx="4983480" cy="1508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700"/>
              </a:spcAft>
            </a:pPr>
            <a:r>
              <a:rPr sz="1250" b="1" i="0">
                <a:solidFill>
                  <a:srgbClr val="2F8F4E"/>
                </a:solidFill>
                <a:latin typeface="Arial"/>
              </a:rPr>
              <a:t>▪  </a:t>
            </a:r>
            <a:r>
              <a:rPr sz="1250" b="1" i="0">
                <a:solidFill>
                  <a:srgbClr val="1F2A44"/>
                </a:solidFill>
                <a:latin typeface="Arial"/>
              </a:rPr>
              <a:t>Долгосрочная эмоциональная привязка</a:t>
            </a:r>
            <a:r>
              <a:rPr sz="1250" b="0" i="0">
                <a:solidFill>
                  <a:srgbClr val="1F2A44"/>
                </a:solidFill>
                <a:latin typeface="Arial"/>
              </a:rPr>
              <a:t> — игрок «инвестировал» в сад месяцы — уйти психологически дорого</a:t>
            </a:r>
          </a:p>
          <a:p>
            <a:pPr algn="l">
              <a:lnSpc>
                <a:spcPct val="104000"/>
              </a:lnSpc>
              <a:spcAft>
                <a:spcPts val="700"/>
              </a:spcAft>
            </a:pPr>
            <a:r>
              <a:rPr sz="1250" b="1" i="0">
                <a:solidFill>
                  <a:srgbClr val="2F8F4E"/>
                </a:solidFill>
                <a:latin typeface="Arial"/>
              </a:rPr>
              <a:t>▪  </a:t>
            </a:r>
            <a:r>
              <a:rPr sz="1250" b="1" i="0">
                <a:solidFill>
                  <a:srgbClr val="1F2A44"/>
                </a:solidFill>
                <a:latin typeface="Arial"/>
              </a:rPr>
              <a:t>Каждый уровень осмыслен</a:t>
            </a:r>
            <a:r>
              <a:rPr sz="1250" b="0" i="0">
                <a:solidFill>
                  <a:srgbClr val="1F2A44"/>
                </a:solidFill>
                <a:latin typeface="Arial"/>
              </a:rPr>
              <a:t> — звезда → видимое изменение мира, а не абстрактный счётчик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737360"/>
            <a:ext cx="5486400" cy="2240280"/>
          </a:xfrm>
          <a:prstGeom prst="roundRect">
            <a:avLst>
              <a:gd name="adj" fmla="val 4500"/>
            </a:avLst>
          </a:prstGeom>
          <a:solidFill>
            <a:srgbClr val="E6EDFA"/>
          </a:solidFill>
          <a:ln w="9525">
            <a:solidFill>
              <a:srgbClr val="DE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17920" y="1737360"/>
            <a:ext cx="82296" cy="2240280"/>
          </a:xfrm>
          <a:prstGeom prst="rect">
            <a:avLst/>
          </a:prstGeom>
          <a:solidFill>
            <a:srgbClr val="2D5F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73952" y="1892808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D5FC1"/>
                </a:solidFill>
                <a:latin typeface="Arial"/>
              </a:rPr>
              <a:t>Royal Match: win-streak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0104120" y="1901952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5F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73152" rIns="73152" tIns="0" bIns="0"/>
          <a:lstStyle/>
          <a:p>
            <a:pPr algn="ctr"/>
            <a:r>
              <a:rPr sz="950" b="1">
                <a:solidFill>
                  <a:srgbClr val="FFFFFF"/>
                </a:solidFill>
                <a:latin typeface="Arial"/>
              </a:rPr>
              <a:t>СЕССИИ / ARPDAU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73952" y="2304288"/>
            <a:ext cx="4983480" cy="1508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700"/>
              </a:spcAft>
            </a:pPr>
            <a:r>
              <a:rPr sz="1250" b="1" i="0">
                <a:solidFill>
                  <a:srgbClr val="2D5FC1"/>
                </a:solidFill>
                <a:latin typeface="Arial"/>
              </a:rPr>
              <a:t>▪  </a:t>
            </a:r>
            <a:r>
              <a:rPr sz="1250" b="1" i="0">
                <a:solidFill>
                  <a:srgbClr val="1F2A44"/>
                </a:solidFill>
                <a:latin typeface="Arial"/>
              </a:rPr>
              <a:t>«Не проиграть» сильнее, чем «выиграть»</a:t>
            </a:r>
            <a:r>
              <a:rPr sz="1250" b="0" i="0">
                <a:solidFill>
                  <a:srgbClr val="1F2A44"/>
                </a:solidFill>
                <a:latin typeface="Arial"/>
              </a:rPr>
              <a:t> — серия превращает каждый уровень в ставку — растут и сессии, и конверсия в покупку ходов</a:t>
            </a:r>
          </a:p>
          <a:p>
            <a:pPr algn="l">
              <a:lnSpc>
                <a:spcPct val="104000"/>
              </a:lnSpc>
              <a:spcAft>
                <a:spcPts val="700"/>
              </a:spcAft>
            </a:pPr>
            <a:r>
              <a:rPr sz="1250" b="1" i="0">
                <a:solidFill>
                  <a:srgbClr val="2D5FC1"/>
                </a:solidFill>
                <a:latin typeface="Arial"/>
              </a:rPr>
              <a:t>▪  </a:t>
            </a:r>
            <a:r>
              <a:rPr sz="1250" b="1" i="0">
                <a:solidFill>
                  <a:srgbClr val="1F2A44"/>
                </a:solidFill>
                <a:latin typeface="Arial"/>
              </a:rPr>
              <a:t>Монетизирует успех, а не только неудачу</a:t>
            </a:r>
            <a:r>
              <a:rPr sz="1250" b="0" i="0">
                <a:solidFill>
                  <a:srgbClr val="1F2A44"/>
                </a:solidFill>
                <a:latin typeface="Arial"/>
              </a:rPr>
              <a:t> — редкий случай в жанре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4114800"/>
            <a:ext cx="5486400" cy="2240280"/>
          </a:xfrm>
          <a:prstGeom prst="roundRect">
            <a:avLst>
              <a:gd name="adj" fmla="val 4500"/>
            </a:avLst>
          </a:prstGeom>
          <a:solidFill>
            <a:srgbClr val="E6EDFA"/>
          </a:solidFill>
          <a:ln w="9525">
            <a:solidFill>
              <a:srgbClr val="DE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02920" y="4114800"/>
            <a:ext cx="82296" cy="2240280"/>
          </a:xfrm>
          <a:prstGeom prst="rect">
            <a:avLst/>
          </a:prstGeom>
          <a:solidFill>
            <a:srgbClr val="2D5F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58952" y="4270248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D5FC1"/>
                </a:solidFill>
                <a:latin typeface="Arial"/>
              </a:rPr>
              <a:t>Royal Match: дизайн доверия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389120" y="4279392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5F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73152" rIns="73152" tIns="0" bIns="0"/>
          <a:lstStyle/>
          <a:p>
            <a:pPr algn="ctr"/>
            <a:r>
              <a:rPr sz="950" b="1">
                <a:solidFill>
                  <a:srgbClr val="FFFFFF"/>
                </a:solidFill>
                <a:latin typeface="Arial"/>
              </a:rPr>
              <a:t>ДОВЕРИЕ / RETENTION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58952" y="4681728"/>
            <a:ext cx="4983480" cy="1508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700"/>
              </a:spcAft>
            </a:pPr>
            <a:r>
              <a:rPr sz="1250" b="1" i="0">
                <a:solidFill>
                  <a:srgbClr val="2D5FC1"/>
                </a:solidFill>
                <a:latin typeface="Arial"/>
              </a:rPr>
              <a:t>▪  </a:t>
            </a:r>
            <a:r>
              <a:rPr sz="1250" b="1" i="0">
                <a:solidFill>
                  <a:srgbClr val="1F2A44"/>
                </a:solidFill>
                <a:latin typeface="Arial"/>
              </a:rPr>
              <a:t>Бесплатный шаффл + отказ от рекламы</a:t>
            </a:r>
            <a:r>
              <a:rPr sz="1250" b="0" i="0">
                <a:solidFill>
                  <a:srgbClr val="1F2A44"/>
                </a:solidFill>
                <a:latin typeface="Arial"/>
              </a:rPr>
              <a:t> — воспринимается как «игра уважает моё время и ресурсы»</a:t>
            </a:r>
          </a:p>
          <a:p>
            <a:pPr algn="l">
              <a:lnSpc>
                <a:spcPct val="104000"/>
              </a:lnSpc>
              <a:spcAft>
                <a:spcPts val="700"/>
              </a:spcAft>
            </a:pPr>
            <a:r>
              <a:rPr sz="1250" b="1" i="0">
                <a:solidFill>
                  <a:srgbClr val="2D5FC1"/>
                </a:solidFill>
                <a:latin typeface="Arial"/>
              </a:rPr>
              <a:t>▪  </a:t>
            </a:r>
            <a:r>
              <a:rPr sz="1250" b="1" i="0">
                <a:solidFill>
                  <a:srgbClr val="1F2A44"/>
                </a:solidFill>
                <a:latin typeface="Arial"/>
              </a:rPr>
              <a:t>Щедрый старт → покупки позже</a:t>
            </a:r>
            <a:r>
              <a:rPr sz="1250" b="0" i="0">
                <a:solidFill>
                  <a:srgbClr val="1F2A44"/>
                </a:solidFill>
                <a:latin typeface="Arial"/>
              </a:rPr>
              <a:t> — доверие конвертируется в LTV, а не в ранний отток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17920" y="4114800"/>
            <a:ext cx="5486400" cy="2240280"/>
          </a:xfrm>
          <a:prstGeom prst="roundRect">
            <a:avLst>
              <a:gd name="adj" fmla="val 4500"/>
            </a:avLst>
          </a:prstGeom>
          <a:solidFill>
            <a:srgbClr val="FAF0DC"/>
          </a:solidFill>
          <a:ln w="9525">
            <a:solidFill>
              <a:srgbClr val="DE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17920" y="4114800"/>
            <a:ext cx="82296" cy="2240280"/>
          </a:xfrm>
          <a:prstGeom prst="rect">
            <a:avLst/>
          </a:prstGeom>
          <a:solidFill>
            <a:srgbClr val="E0A2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73952" y="4270248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E0A238"/>
                </a:solidFill>
                <a:latin typeface="Arial"/>
              </a:rPr>
              <a:t>Общее: near-miss + live-ops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104120" y="4279392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E0A2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73152" rIns="73152" tIns="0" bIns="0"/>
          <a:lstStyle/>
          <a:p>
            <a:pPr algn="ctr"/>
            <a:r>
              <a:rPr sz="950" b="1">
                <a:solidFill>
                  <a:srgbClr val="FFFFFF"/>
                </a:solidFill>
                <a:latin typeface="Arial"/>
              </a:rPr>
              <a:t>МОНЕТИЗАЦИЯ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73952" y="4681728"/>
            <a:ext cx="4983480" cy="1508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700"/>
              </a:spcAft>
            </a:pPr>
            <a:r>
              <a:rPr sz="1250" b="1" i="0">
                <a:solidFill>
                  <a:srgbClr val="E0A238"/>
                </a:solidFill>
                <a:latin typeface="Arial"/>
              </a:rPr>
              <a:t>▪  </a:t>
            </a:r>
            <a:r>
              <a:rPr sz="1250" b="1" i="0">
                <a:solidFill>
                  <a:srgbClr val="1F2A44"/>
                </a:solidFill>
                <a:latin typeface="Arial"/>
              </a:rPr>
              <a:t>Покупка +5 ходов в момент «почти прошёл»</a:t>
            </a:r>
            <a:r>
              <a:rPr sz="1250" b="0" i="0">
                <a:solidFill>
                  <a:srgbClr val="1F2A44"/>
                </a:solidFill>
                <a:latin typeface="Arial"/>
              </a:rPr>
              <a:t> — главный источник выручки жанра: высокая воспринимаемая ценность в точке фрустрации</a:t>
            </a:r>
          </a:p>
          <a:p>
            <a:pPr algn="l">
              <a:lnSpc>
                <a:spcPct val="104000"/>
              </a:lnSpc>
              <a:spcAft>
                <a:spcPts val="700"/>
              </a:spcAft>
            </a:pPr>
            <a:r>
              <a:rPr sz="1250" b="1" i="0">
                <a:solidFill>
                  <a:srgbClr val="E0A238"/>
                </a:solidFill>
                <a:latin typeface="Arial"/>
              </a:rPr>
              <a:t>▪  </a:t>
            </a:r>
            <a:r>
              <a:rPr sz="1250" b="1" i="0">
                <a:solidFill>
                  <a:srgbClr val="1F2A44"/>
                </a:solidFill>
                <a:latin typeface="Arial"/>
              </a:rPr>
              <a:t>Событийный календарь</a:t>
            </a:r>
            <a:r>
              <a:rPr sz="1250" b="0" i="0">
                <a:solidFill>
                  <a:srgbClr val="1F2A44"/>
                </a:solidFill>
                <a:latin typeface="Arial"/>
              </a:rPr>
              <a:t> — постоянные краткосрочные цели поверх core-петли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" y="64739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5A6478"/>
                </a:solidFill>
                <a:latin typeface="Arial"/>
              </a:rPr>
              <a:t>Gardenscapes × Royal Match — сравнительный анализ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292840" y="6473952"/>
            <a:ext cx="411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900" b="1" i="0">
                <a:solidFill>
                  <a:srgbClr val="5A6478"/>
                </a:solidFill>
                <a:latin typeface="Arial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384048"/>
            <a:ext cx="2197303" cy="310896"/>
          </a:xfrm>
          <a:prstGeom prst="roundRect">
            <a:avLst>
              <a:gd name="adj" fmla="val 50000"/>
            </a:avLst>
          </a:prstGeom>
          <a:solidFill>
            <a:srgbClr val="2D5F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73152" rIns="73152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ВОПРОС 3 · МЕХАНИКА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04672"/>
            <a:ext cx="111556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700" b="1" i="0">
                <a:solidFill>
                  <a:srgbClr val="1F2A44"/>
                </a:solidFill>
                <a:latin typeface="Arial"/>
              </a:rPr>
              <a:t>Core-геймплей и пауэр-апы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1481328"/>
            <a:ext cx="1234440" cy="38100"/>
          </a:xfrm>
          <a:prstGeom prst="rect">
            <a:avLst/>
          </a:prstGeom>
          <a:solidFill>
            <a:srgbClr val="2D5F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783080"/>
          <a:ext cx="11201400" cy="3794760"/>
        </p:xfrm>
        <a:graphic>
          <a:graphicData uri="http://schemas.openxmlformats.org/drawingml/2006/table">
            <a:tbl>
              <a:tblPr/>
              <a:tblGrid>
                <a:gridCol w="2286000"/>
                <a:gridCol w="4434840"/>
                <a:gridCol w="4480560"/>
              </a:tblGrid>
              <a:tr h="758952"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150" b="1" i="0">
                          <a:solidFill>
                            <a:srgbClr val="FFFFFF"/>
                          </a:solidFill>
                          <a:latin typeface="Arial"/>
                        </a:rPr>
                        <a:t>Критерий</a:t>
                      </a:r>
                    </a:p>
                  </a:txBody>
                  <a:tcPr anchor="ctr" marL="91440" marR="91440" marT="41148" marB="41148">
                    <a:solidFill>
                      <a:srgbClr val="1F2A4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150" b="1" i="0">
                          <a:solidFill>
                            <a:srgbClr val="FFFFFF"/>
                          </a:solidFill>
                          <a:latin typeface="Arial"/>
                        </a:rPr>
                        <a:t>Gardenscapes</a:t>
                      </a:r>
                    </a:p>
                  </a:txBody>
                  <a:tcPr anchor="ctr" marL="91440" marR="91440" marT="41148" marB="41148">
                    <a:solidFill>
                      <a:srgbClr val="2F8F4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150" b="1" i="0">
                          <a:solidFill>
                            <a:srgbClr val="FFFFFF"/>
                          </a:solidFill>
                          <a:latin typeface="Arial"/>
                        </a:rPr>
                        <a:t>Royal Match</a:t>
                      </a:r>
                    </a:p>
                  </a:txBody>
                  <a:tcPr anchor="ctr" marL="91440" marR="91440" marT="41148" marB="41148">
                    <a:solidFill>
                      <a:srgbClr val="2D5FC1"/>
                    </a:solidFill>
                  </a:tcPr>
                </a:tc>
              </a:tr>
              <a:tr h="758952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150" b="0" i="0">
                          <a:solidFill>
                            <a:srgbClr val="1F2A44"/>
                          </a:solidFill>
                          <a:latin typeface="Arial"/>
                        </a:rPr>
                        <a:t>Принцип создания</a:t>
                      </a:r>
                    </a:p>
                  </a:txBody>
                  <a:tcPr anchor="ctr" marL="91440" marR="91440" marT="41148" marB="4114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150" b="0" i="0">
                          <a:solidFill>
                            <a:srgbClr val="1F2A44"/>
                          </a:solidFill>
                          <a:latin typeface="Arial"/>
                        </a:rPr>
                        <a:t>От количества фишек: 4 → петарда, 5 → бомба, 6 → динамит, 7+ → TNT</a:t>
                      </a:r>
                    </a:p>
                  </a:txBody>
                  <a:tcPr anchor="ctr" marL="91440" marR="91440" marT="41148" marB="4114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150" b="0" i="0">
                          <a:solidFill>
                            <a:srgbClr val="1F2A44"/>
                          </a:solidFill>
                          <a:latin typeface="Arial"/>
                        </a:rPr>
                        <a:t>От формы матча: 4 в линию → ракета, 4 квадратом → пропеллер, 5 L/T → TNT, 5 в линию → световой шар</a:t>
                      </a:r>
                    </a:p>
                  </a:txBody>
                  <a:tcPr anchor="ctr" marL="91440" marR="91440" marT="41148" marB="41148">
                    <a:solidFill>
                      <a:srgbClr val="FFFFFF"/>
                    </a:solidFill>
                  </a:tcPr>
                </a:tc>
              </a:tr>
              <a:tr h="758952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150" b="0" i="0">
                          <a:solidFill>
                            <a:srgbClr val="1F2A44"/>
                          </a:solidFill>
                          <a:latin typeface="Arial"/>
                        </a:rPr>
                        <a:t>Глубина решений</a:t>
                      </a:r>
                    </a:p>
                  </a:txBody>
                  <a:tcPr anchor="ctr" marL="91440" marR="91440" marT="41148" marB="41148">
                    <a:solidFill>
                      <a:srgbClr val="F1EE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150" b="0" i="0">
                          <a:solidFill>
                            <a:srgbClr val="1F2A44"/>
                          </a:solidFill>
                          <a:latin typeface="Arial"/>
                        </a:rPr>
                        <a:t>Проще: «собирай больше» — одна ось мышления</a:t>
                      </a:r>
                    </a:p>
                  </a:txBody>
                  <a:tcPr anchor="ctr" marL="91440" marR="91440" marT="41148" marB="41148">
                    <a:solidFill>
                      <a:srgbClr val="F1EE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150" b="0" i="0">
                          <a:solidFill>
                            <a:srgbClr val="1F2A44"/>
                          </a:solidFill>
                          <a:latin typeface="Arial"/>
                        </a:rPr>
                        <a:t>Глубже: игрок выбирает форму матча под задачу уровня</a:t>
                      </a:r>
                    </a:p>
                  </a:txBody>
                  <a:tcPr anchor="ctr" marL="91440" marR="91440" marT="41148" marB="41148">
                    <a:solidFill>
                      <a:srgbClr val="F1EEE7"/>
                    </a:solidFill>
                  </a:tcPr>
                </a:tc>
              </a:tr>
              <a:tr h="758952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150" b="0" i="0">
                          <a:solidFill>
                            <a:srgbClr val="1F2A44"/>
                          </a:solidFill>
                          <a:latin typeface="Arial"/>
                        </a:rPr>
                        <a:t>Элемент случайности</a:t>
                      </a:r>
                    </a:p>
                  </a:txBody>
                  <a:tcPr anchor="ctr" marL="91440" marR="91440" marT="41148" marB="4114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150" b="0" i="0">
                          <a:solidFill>
                            <a:srgbClr val="1F2A44"/>
                          </a:solidFill>
                          <a:latin typeface="Arial"/>
                        </a:rPr>
                        <a:t>Rainbow Blast — заряжается взрывами пауэр-апов</a:t>
                      </a:r>
                    </a:p>
                  </a:txBody>
                  <a:tcPr anchor="ctr" marL="91440" marR="91440" marT="41148" marB="4114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150" b="0" i="0">
                          <a:solidFill>
                            <a:srgbClr val="1F2A44"/>
                          </a:solidFill>
                          <a:latin typeface="Arial"/>
                        </a:rPr>
                        <a:t>Пропеллер — «умная случайность», летит в полезную цель</a:t>
                      </a:r>
                    </a:p>
                  </a:txBody>
                  <a:tcPr anchor="ctr" marL="91440" marR="91440" marT="41148" marB="41148">
                    <a:solidFill>
                      <a:srgbClr val="FFFFFF"/>
                    </a:solidFill>
                  </a:tcPr>
                </a:tc>
              </a:tr>
              <a:tr h="758952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150" b="0" i="0">
                          <a:solidFill>
                            <a:srgbClr val="1F2A44"/>
                          </a:solidFill>
                          <a:latin typeface="Arial"/>
                        </a:rPr>
                        <a:t>Темп и читаемость</a:t>
                      </a:r>
                    </a:p>
                  </a:txBody>
                  <a:tcPr anchor="ctr" marL="91440" marR="91440" marT="41148" marB="41148">
                    <a:solidFill>
                      <a:srgbClr val="F1EE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150" b="0" i="0">
                          <a:solidFill>
                            <a:srgbClr val="1F2A44"/>
                          </a:solidFill>
                          <a:latin typeface="Arial"/>
                        </a:rPr>
                        <a:t>Анимации медленнее, поле визуально плотнее</a:t>
                      </a:r>
                    </a:p>
                  </a:txBody>
                  <a:tcPr anchor="ctr" marL="91440" marR="91440" marT="41148" marB="41148">
                    <a:solidFill>
                      <a:srgbClr val="F1EE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150" b="0" i="0">
                          <a:solidFill>
                            <a:srgbClr val="1F2A44"/>
                          </a:solidFill>
                          <a:latin typeface="Arial"/>
                        </a:rPr>
                        <a:t>Быстрые анимации, высокий контраст → короткие бодрые сессии</a:t>
                      </a:r>
                    </a:p>
                  </a:txBody>
                  <a:tcPr anchor="ctr" marL="91440" marR="91440" marT="41148" marB="41148">
                    <a:solidFill>
                      <a:srgbClr val="F1EEE7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502920" y="5806440"/>
            <a:ext cx="11201400" cy="566928"/>
          </a:xfrm>
          <a:prstGeom prst="roundRect">
            <a:avLst>
              <a:gd name="adj" fmla="val 14000"/>
            </a:avLst>
          </a:prstGeom>
          <a:solidFill>
            <a:srgbClr val="E6E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5806440"/>
            <a:ext cx="82296" cy="566928"/>
          </a:xfrm>
          <a:prstGeom prst="rect">
            <a:avLst/>
          </a:prstGeom>
          <a:solidFill>
            <a:srgbClr val="2D5F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58952" y="5806440"/>
            <a:ext cx="107442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300" b="1" i="0">
                <a:solidFill>
                  <a:srgbClr val="2D5FC1"/>
                </a:solidFill>
                <a:latin typeface="Arial"/>
              </a:rPr>
              <a:t>→  </a:t>
            </a:r>
            <a:r>
              <a:rPr sz="1250" b="0" i="0">
                <a:solidFill>
                  <a:srgbClr val="1F2A44"/>
                </a:solidFill>
                <a:latin typeface="Arial"/>
              </a:rPr>
              <a:t>Вывод: система «форма матча = тип пауэр-апа» даёт больше осознанных решений за ход и выше skill ceiling — core Royal Match интереснее сам по себе, без опоры на мету.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4739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5A6478"/>
                </a:solidFill>
                <a:latin typeface="Arial"/>
              </a:rPr>
              <a:t>Gardenscapes × Royal Match — сравнительный анализ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92840" y="6473952"/>
            <a:ext cx="411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900" b="1" i="0">
                <a:solidFill>
                  <a:srgbClr val="5A6478"/>
                </a:solidFill>
                <a:latin typeface="Arial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384048"/>
            <a:ext cx="2197303" cy="310896"/>
          </a:xfrm>
          <a:prstGeom prst="roundRect">
            <a:avLst>
              <a:gd name="adj" fmla="val 50000"/>
            </a:avLst>
          </a:prstGeom>
          <a:solidFill>
            <a:srgbClr val="2D5F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73152" rIns="73152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ВОПРОС 3 · МЕХАНИКА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04672"/>
            <a:ext cx="111556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700" b="1" i="0">
                <a:solidFill>
                  <a:srgbClr val="1F2A44"/>
                </a:solidFill>
                <a:latin typeface="Arial"/>
              </a:rPr>
              <a:t>Жизни, экономика и монетизация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1481328"/>
            <a:ext cx="1234440" cy="38100"/>
          </a:xfrm>
          <a:prstGeom prst="rect">
            <a:avLst/>
          </a:prstGeom>
          <a:solidFill>
            <a:srgbClr val="2D5F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783080"/>
          <a:ext cx="11201400" cy="3794760"/>
        </p:xfrm>
        <a:graphic>
          <a:graphicData uri="http://schemas.openxmlformats.org/drawingml/2006/table">
            <a:tbl>
              <a:tblPr/>
              <a:tblGrid>
                <a:gridCol w="2286000"/>
                <a:gridCol w="4434840"/>
                <a:gridCol w="4480560"/>
              </a:tblGrid>
              <a:tr h="758952"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150" b="1" i="0">
                          <a:solidFill>
                            <a:srgbClr val="FFFFFF"/>
                          </a:solidFill>
                          <a:latin typeface="Arial"/>
                        </a:rPr>
                        <a:t>Критерий</a:t>
                      </a:r>
                    </a:p>
                  </a:txBody>
                  <a:tcPr anchor="ctr" marL="91440" marR="91440" marT="41148" marB="41148">
                    <a:solidFill>
                      <a:srgbClr val="1F2A4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150" b="1" i="0">
                          <a:solidFill>
                            <a:srgbClr val="FFFFFF"/>
                          </a:solidFill>
                          <a:latin typeface="Arial"/>
                        </a:rPr>
                        <a:t>Gardenscapes</a:t>
                      </a:r>
                    </a:p>
                  </a:txBody>
                  <a:tcPr anchor="ctr" marL="91440" marR="91440" marT="41148" marB="41148">
                    <a:solidFill>
                      <a:srgbClr val="2F8F4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150" b="1" i="0">
                          <a:solidFill>
                            <a:srgbClr val="FFFFFF"/>
                          </a:solidFill>
                          <a:latin typeface="Arial"/>
                        </a:rPr>
                        <a:t>Royal Match</a:t>
                      </a:r>
                    </a:p>
                  </a:txBody>
                  <a:tcPr anchor="ctr" marL="91440" marR="91440" marT="41148" marB="41148">
                    <a:solidFill>
                      <a:srgbClr val="2D5FC1"/>
                    </a:solidFill>
                  </a:tcPr>
                </a:tc>
              </a:tr>
              <a:tr h="758952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150" b="0" i="0">
                          <a:solidFill>
                            <a:srgbClr val="1F2A44"/>
                          </a:solidFill>
                          <a:latin typeface="Arial"/>
                        </a:rPr>
                        <a:t>Система жизней</a:t>
                      </a:r>
                    </a:p>
                  </a:txBody>
                  <a:tcPr anchor="ctr" marL="91440" marR="91440" marT="41148" marB="4114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150" b="0" i="0">
                          <a:solidFill>
                            <a:srgbClr val="1F2A44"/>
                          </a:solidFill>
                          <a:latin typeface="Arial"/>
                        </a:rPr>
                        <a:t>5 жизней, регенерация по таймеру; жизни можно просить у команды</a:t>
                      </a:r>
                    </a:p>
                  </a:txBody>
                  <a:tcPr anchor="ctr" marL="91440" marR="91440" marT="41148" marB="4114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150" b="0" i="0">
                          <a:solidFill>
                            <a:srgbClr val="1F2A44"/>
                          </a:solidFill>
                          <a:latin typeface="Arial"/>
                        </a:rPr>
                        <a:t>5 жизней + частые подарки «безлимитных жизней» за события и командные награды</a:t>
                      </a:r>
                    </a:p>
                  </a:txBody>
                  <a:tcPr anchor="ctr" marL="91440" marR="91440" marT="41148" marB="41148">
                    <a:solidFill>
                      <a:srgbClr val="FFFFFF"/>
                    </a:solidFill>
                  </a:tcPr>
                </a:tc>
              </a:tr>
              <a:tr h="758952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150" b="0" i="0">
                          <a:solidFill>
                            <a:srgbClr val="1F2A44"/>
                          </a:solidFill>
                          <a:latin typeface="Arial"/>
                        </a:rPr>
                        <a:t>Модель выручки</a:t>
                      </a:r>
                    </a:p>
                  </a:txBody>
                  <a:tcPr anchor="ctr" marL="91440" marR="91440" marT="41148" marB="41148">
                    <a:solidFill>
                      <a:srgbClr val="F1EE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150" b="0" i="0">
                          <a:solidFill>
                            <a:srgbClr val="1F2A44"/>
                          </a:solidFill>
                          <a:latin typeface="Arial"/>
                        </a:rPr>
                        <a:t>IAP (монеты, бустеры, пропуска) + офферы; много параллельных валют</a:t>
                      </a:r>
                    </a:p>
                  </a:txBody>
                  <a:tcPr anchor="ctr" marL="91440" marR="91440" marT="41148" marB="41148">
                    <a:solidFill>
                      <a:srgbClr val="F1EE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150" b="0" i="0">
                          <a:solidFill>
                            <a:srgbClr val="1F2A44"/>
                          </a:solidFill>
                          <a:latin typeface="Arial"/>
                        </a:rPr>
                        <a:t>Только IAP, одна валюта — монеты; ноль рекламы</a:t>
                      </a:r>
                    </a:p>
                  </a:txBody>
                  <a:tcPr anchor="ctr" marL="91440" marR="91440" marT="41148" marB="41148">
                    <a:solidFill>
                      <a:srgbClr val="F1EEE7"/>
                    </a:solidFill>
                  </a:tcPr>
                </a:tc>
              </a:tr>
              <a:tr h="758952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150" b="0" i="0">
                          <a:solidFill>
                            <a:srgbClr val="1F2A44"/>
                          </a:solidFill>
                          <a:latin typeface="Arial"/>
                        </a:rPr>
                        <a:t>Точка покупки</a:t>
                      </a:r>
                    </a:p>
                  </a:txBody>
                  <a:tcPr anchor="ctr" marL="91440" marR="91440" marT="41148" marB="4114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150" b="0" i="0">
                          <a:solidFill>
                            <a:srgbClr val="1F2A44"/>
                          </a:solidFill>
                          <a:latin typeface="Arial"/>
                        </a:rPr>
                        <a:t>+5 ходов при near-miss, бустеры перед уровнем, пакеты в попапах</a:t>
                      </a:r>
                    </a:p>
                  </a:txBody>
                  <a:tcPr anchor="ctr" marL="91440" marR="91440" marT="41148" marB="4114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150" b="0" i="0">
                          <a:solidFill>
                            <a:srgbClr val="1F2A44"/>
                          </a:solidFill>
                          <a:latin typeface="Arial"/>
                        </a:rPr>
                        <a:t>+5 ходов при near-miss + защита win-streak — покупка «страхует» серию</a:t>
                      </a:r>
                    </a:p>
                  </a:txBody>
                  <a:tcPr anchor="ctr" marL="91440" marR="91440" marT="41148" marB="41148">
                    <a:solidFill>
                      <a:srgbClr val="FFFFFF"/>
                    </a:solidFill>
                  </a:tcPr>
                </a:tc>
              </a:tr>
              <a:tr h="758952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150" b="0" i="0">
                          <a:solidFill>
                            <a:srgbClr val="1F2A44"/>
                          </a:solidFill>
                          <a:latin typeface="Arial"/>
                        </a:rPr>
                        <a:t>Давление на игрока</a:t>
                      </a:r>
                    </a:p>
                  </a:txBody>
                  <a:tcPr anchor="ctr" marL="91440" marR="91440" marT="41148" marB="41148">
                    <a:solidFill>
                      <a:srgbClr val="F1EE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150" b="0" i="0">
                          <a:solidFill>
                            <a:srgbClr val="1F2A44"/>
                          </a:solidFill>
                          <a:latin typeface="Arial"/>
                        </a:rPr>
                        <a:t>Растёт с прогрессом: чаще пики сложности, больше попапов офферов</a:t>
                      </a:r>
                    </a:p>
                  </a:txBody>
                  <a:tcPr anchor="ctr" marL="91440" marR="91440" marT="41148" marB="41148">
                    <a:solidFill>
                      <a:srgbClr val="F1EE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150" b="0" i="0">
                          <a:solidFill>
                            <a:srgbClr val="1F2A44"/>
                          </a:solidFill>
                          <a:latin typeface="Arial"/>
                        </a:rPr>
                        <a:t>Сдержанное в онбординге; давление концентрируется в событийных пиках</a:t>
                      </a:r>
                    </a:p>
                  </a:txBody>
                  <a:tcPr anchor="ctr" marL="91440" marR="91440" marT="41148" marB="41148">
                    <a:solidFill>
                      <a:srgbClr val="F1EEE7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502920" y="5806440"/>
            <a:ext cx="11201400" cy="566928"/>
          </a:xfrm>
          <a:prstGeom prst="roundRect">
            <a:avLst>
              <a:gd name="adj" fmla="val 14000"/>
            </a:avLst>
          </a:prstGeom>
          <a:solidFill>
            <a:srgbClr val="E6E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5806440"/>
            <a:ext cx="82296" cy="566928"/>
          </a:xfrm>
          <a:prstGeom prst="rect">
            <a:avLst/>
          </a:prstGeom>
          <a:solidFill>
            <a:srgbClr val="2D5F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58952" y="5806440"/>
            <a:ext cx="107442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300" b="1" i="0">
                <a:solidFill>
                  <a:srgbClr val="2D5FC1"/>
                </a:solidFill>
                <a:latin typeface="Arial"/>
              </a:rPr>
              <a:t>→  </a:t>
            </a:r>
            <a:r>
              <a:rPr sz="1250" b="0" i="0">
                <a:solidFill>
                  <a:srgbClr val="1F2A44"/>
                </a:solidFill>
                <a:latin typeface="Arial"/>
              </a:rPr>
              <a:t>Вывод: Royal Match монетизирует меньшую долю игрового времени, но в более сильных эмоциональных точках (серия под угрозой) — выше конверсия при меньшем раздражении.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4739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5A6478"/>
                </a:solidFill>
                <a:latin typeface="Arial"/>
              </a:rPr>
              <a:t>Gardenscapes × Royal Match — сравнительный анализ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92840" y="6473952"/>
            <a:ext cx="411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900" b="1" i="0">
                <a:solidFill>
                  <a:srgbClr val="5A6478"/>
                </a:solidFill>
                <a:latin typeface="Arial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384048"/>
            <a:ext cx="2197303" cy="310896"/>
          </a:xfrm>
          <a:prstGeom prst="roundRect">
            <a:avLst>
              <a:gd name="adj" fmla="val 50000"/>
            </a:avLst>
          </a:prstGeom>
          <a:solidFill>
            <a:srgbClr val="2D5F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73152" rIns="73152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ВОПРОС 3 · МЕХАНИКА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04672"/>
            <a:ext cx="111556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700" b="1" i="0">
                <a:solidFill>
                  <a:srgbClr val="1F2A44"/>
                </a:solidFill>
                <a:latin typeface="Arial"/>
              </a:rPr>
              <a:t>Мета-слой и live-ops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1481328"/>
            <a:ext cx="1234440" cy="38100"/>
          </a:xfrm>
          <a:prstGeom prst="rect">
            <a:avLst/>
          </a:prstGeom>
          <a:solidFill>
            <a:srgbClr val="2D5F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783080"/>
          <a:ext cx="11201400" cy="3794760"/>
        </p:xfrm>
        <a:graphic>
          <a:graphicData uri="http://schemas.openxmlformats.org/drawingml/2006/table">
            <a:tbl>
              <a:tblPr/>
              <a:tblGrid>
                <a:gridCol w="2286000"/>
                <a:gridCol w="4434840"/>
                <a:gridCol w="4480560"/>
              </a:tblGrid>
              <a:tr h="758952"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150" b="1" i="0">
                          <a:solidFill>
                            <a:srgbClr val="FFFFFF"/>
                          </a:solidFill>
                          <a:latin typeface="Arial"/>
                        </a:rPr>
                        <a:t>Критерий</a:t>
                      </a:r>
                    </a:p>
                  </a:txBody>
                  <a:tcPr anchor="ctr" marL="91440" marR="91440" marT="41148" marB="41148">
                    <a:solidFill>
                      <a:srgbClr val="1F2A4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150" b="1" i="0">
                          <a:solidFill>
                            <a:srgbClr val="FFFFFF"/>
                          </a:solidFill>
                          <a:latin typeface="Arial"/>
                        </a:rPr>
                        <a:t>Gardenscapes</a:t>
                      </a:r>
                    </a:p>
                  </a:txBody>
                  <a:tcPr anchor="ctr" marL="91440" marR="91440" marT="41148" marB="41148">
                    <a:solidFill>
                      <a:srgbClr val="2F8F4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150" b="1" i="0">
                          <a:solidFill>
                            <a:srgbClr val="FFFFFF"/>
                          </a:solidFill>
                          <a:latin typeface="Arial"/>
                        </a:rPr>
                        <a:t>Royal Match</a:t>
                      </a:r>
                    </a:p>
                  </a:txBody>
                  <a:tcPr anchor="ctr" marL="91440" marR="91440" marT="41148" marB="41148">
                    <a:solidFill>
                      <a:srgbClr val="2D5FC1"/>
                    </a:solidFill>
                  </a:tcPr>
                </a:tc>
              </a:tr>
              <a:tr h="758952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150" b="0" i="0">
                          <a:solidFill>
                            <a:srgbClr val="1F2A44"/>
                          </a:solidFill>
                          <a:latin typeface="Arial"/>
                        </a:rPr>
                        <a:t>Мета-слой</a:t>
                      </a:r>
                    </a:p>
                  </a:txBody>
                  <a:tcPr anchor="ctr" marL="91440" marR="91440" marT="41148" marB="4114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150" b="0" i="0">
                          <a:solidFill>
                            <a:srgbClr val="1F2A44"/>
                          </a:solidFill>
                          <a:latin typeface="Arial"/>
                        </a:rPr>
                        <a:t>Тяжёлый: звёзды → задачи → сюжет; сад из многих зон, выбор вариантов декора</a:t>
                      </a:r>
                    </a:p>
                  </a:txBody>
                  <a:tcPr anchor="ctr" marL="91440" marR="91440" marT="41148" marB="4114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150" b="0" i="0">
                          <a:solidFill>
                            <a:srgbClr val="1F2A44"/>
                          </a:solidFill>
                          <a:latin typeface="Arial"/>
                        </a:rPr>
                        <a:t>Лёгкий: декор области в один тап; фон для core, а не отдельная игра</a:t>
                      </a:r>
                    </a:p>
                  </a:txBody>
                  <a:tcPr anchor="ctr" marL="91440" marR="91440" marT="41148" marB="41148">
                    <a:solidFill>
                      <a:srgbClr val="FFFFFF"/>
                    </a:solidFill>
                  </a:tcPr>
                </a:tc>
              </a:tr>
              <a:tr h="758952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150" b="0" i="0">
                          <a:solidFill>
                            <a:srgbClr val="1F2A44"/>
                          </a:solidFill>
                          <a:latin typeface="Arial"/>
                        </a:rPr>
                        <a:t>Цена мета-прогресса</a:t>
                      </a:r>
                    </a:p>
                  </a:txBody>
                  <a:tcPr anchor="ctr" marL="91440" marR="91440" marT="41148" marB="41148">
                    <a:solidFill>
                      <a:srgbClr val="F1EE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150" b="0" i="0">
                          <a:solidFill>
                            <a:srgbClr val="1F2A44"/>
                          </a:solidFill>
                          <a:latin typeface="Arial"/>
                        </a:rPr>
                        <a:t>1–2 звезды за уровень, задачи по 1–3 звезды → часы на один «эпизод»</a:t>
                      </a:r>
                    </a:p>
                  </a:txBody>
                  <a:tcPr anchor="ctr" marL="91440" marR="91440" marT="41148" marB="41148">
                    <a:solidFill>
                      <a:srgbClr val="F1EE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150" b="0" i="0">
                          <a:solidFill>
                            <a:srgbClr val="1F2A44"/>
                          </a:solidFill>
                          <a:latin typeface="Arial"/>
                        </a:rPr>
                        <a:t>Ключи капают быстро, область закрывается за игровую сессию-две</a:t>
                      </a:r>
                    </a:p>
                  </a:txBody>
                  <a:tcPr anchor="ctr" marL="91440" marR="91440" marT="41148" marB="41148">
                    <a:solidFill>
                      <a:srgbClr val="F1EEE7"/>
                    </a:solidFill>
                  </a:tcPr>
                </a:tc>
              </a:tr>
              <a:tr h="758952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150" b="0" i="0">
                          <a:solidFill>
                            <a:srgbClr val="1F2A44"/>
                          </a:solidFill>
                          <a:latin typeface="Arial"/>
                        </a:rPr>
                        <a:t>Live-ops</a:t>
                      </a:r>
                    </a:p>
                  </a:txBody>
                  <a:tcPr anchor="ctr" marL="91440" marR="91440" marT="41148" marB="4114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150" b="0" i="0">
                          <a:solidFill>
                            <a:srgbClr val="1F2A44"/>
                          </a:solidFill>
                          <a:latin typeface="Arial"/>
                        </a:rPr>
                        <a:t>Сезонные события, растянутые на недели; отдельные механики под событие</a:t>
                      </a:r>
                    </a:p>
                  </a:txBody>
                  <a:tcPr anchor="ctr" marL="91440" marR="91440" marT="41148" marB="4114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150" b="0" i="0">
                          <a:solidFill>
                            <a:srgbClr val="1F2A44"/>
                          </a:solidFill>
                          <a:latin typeface="Arial"/>
                        </a:rPr>
                        <a:t>6+ коротких параллельных событий с недельным ритмом и пиками в выходные</a:t>
                      </a:r>
                    </a:p>
                  </a:txBody>
                  <a:tcPr anchor="ctr" marL="91440" marR="91440" marT="41148" marB="41148">
                    <a:solidFill>
                      <a:srgbClr val="FFFFFF"/>
                    </a:solidFill>
                  </a:tcPr>
                </a:tc>
              </a:tr>
              <a:tr h="758952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150" b="0" i="0">
                          <a:solidFill>
                            <a:srgbClr val="1F2A44"/>
                          </a:solidFill>
                          <a:latin typeface="Arial"/>
                        </a:rPr>
                        <a:t>Роль меты в удержании</a:t>
                      </a:r>
                    </a:p>
                  </a:txBody>
                  <a:tcPr anchor="ctr" marL="91440" marR="91440" marT="41148" marB="41148">
                    <a:solidFill>
                      <a:srgbClr val="F1EE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150" b="0" i="0">
                          <a:solidFill>
                            <a:srgbClr val="1F2A44"/>
                          </a:solidFill>
                          <a:latin typeface="Arial"/>
                        </a:rPr>
                        <a:t>Главный крючок: ради сада терпят сложные уровни</a:t>
                      </a:r>
                    </a:p>
                  </a:txBody>
                  <a:tcPr anchor="ctr" marL="91440" marR="91440" marT="41148" marB="41148">
                    <a:solidFill>
                      <a:srgbClr val="F1EE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150" b="0" i="0">
                          <a:solidFill>
                            <a:srgbClr val="1F2A44"/>
                          </a:solidFill>
                          <a:latin typeface="Arial"/>
                        </a:rPr>
                        <a:t>Вспомогательная: главный крючок — сам core и серия побед</a:t>
                      </a:r>
                    </a:p>
                  </a:txBody>
                  <a:tcPr anchor="ctr" marL="91440" marR="91440" marT="41148" marB="41148">
                    <a:solidFill>
                      <a:srgbClr val="F1EEE7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502920" y="5806440"/>
            <a:ext cx="11201400" cy="566928"/>
          </a:xfrm>
          <a:prstGeom prst="roundRect">
            <a:avLst>
              <a:gd name="adj" fmla="val 14000"/>
            </a:avLst>
          </a:prstGeom>
          <a:solidFill>
            <a:srgbClr val="FAF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5806440"/>
            <a:ext cx="82296" cy="566928"/>
          </a:xfrm>
          <a:prstGeom prst="rect">
            <a:avLst/>
          </a:prstGeom>
          <a:solidFill>
            <a:srgbClr val="E0A2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58952" y="5806440"/>
            <a:ext cx="107442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300" b="1" i="0">
                <a:solidFill>
                  <a:srgbClr val="E0A238"/>
                </a:solidFill>
                <a:latin typeface="Arial"/>
              </a:rPr>
              <a:t>→  </a:t>
            </a:r>
            <a:r>
              <a:rPr sz="1250" b="0" i="0">
                <a:solidFill>
                  <a:srgbClr val="1F2A44"/>
                </a:solidFill>
                <a:latin typeface="Arial"/>
              </a:rPr>
              <a:t>Вывод: это не «лучше/хуже», а разные ставки. Но пейсинг меты Gardenscapes — самое уязвимое место: именно здесь копится усталость игрока (см. вопрос 4).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4739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5A6478"/>
                </a:solidFill>
                <a:latin typeface="Arial"/>
              </a:rPr>
              <a:t>Gardenscapes × Royal Match — сравнительный анализ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92840" y="6473952"/>
            <a:ext cx="411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900" b="1" i="0">
                <a:solidFill>
                  <a:srgbClr val="5A6478"/>
                </a:solidFill>
                <a:latin typeface="Arial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384048"/>
            <a:ext cx="1091793" cy="310896"/>
          </a:xfrm>
          <a:prstGeom prst="roundRect">
            <a:avLst>
              <a:gd name="adj" fmla="val 50000"/>
            </a:avLst>
          </a:prstGeom>
          <a:solidFill>
            <a:srgbClr val="BE4F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73152" rIns="73152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ВОПРОС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04672"/>
            <a:ext cx="111556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700" b="1" i="0">
                <a:solidFill>
                  <a:srgbClr val="1F2A44"/>
                </a:solidFill>
                <a:latin typeface="Arial"/>
              </a:rPr>
              <a:t>Проблемы Gardenscapes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1481328"/>
            <a:ext cx="1234440" cy="38100"/>
          </a:xfrm>
          <a:prstGeom prst="rect">
            <a:avLst/>
          </a:prstGeom>
          <a:solidFill>
            <a:srgbClr val="BE4F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02920" y="1691640"/>
            <a:ext cx="5486400" cy="1261872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DE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1691640"/>
            <a:ext cx="82296" cy="1261872"/>
          </a:xfrm>
          <a:prstGeom prst="rect">
            <a:avLst/>
          </a:prstGeom>
          <a:solidFill>
            <a:srgbClr val="BE4F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0664" y="1783080"/>
            <a:ext cx="5120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1" i="0">
                <a:solidFill>
                  <a:srgbClr val="BE4F45"/>
                </a:solidFill>
                <a:latin typeface="Arial"/>
              </a:rPr>
              <a:t>1. Мета превращается в гринд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0664" y="2075688"/>
            <a:ext cx="5120640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400"/>
              </a:spcAft>
            </a:pPr>
            <a:r>
              <a:rPr sz="1050" b="0" i="0">
                <a:solidFill>
                  <a:srgbClr val="1F2A44"/>
                </a:solidFill>
                <a:latin typeface="Arial"/>
              </a:rPr>
              <a:t>Звёзды капают медленно, а задачи часто «бытовые» («полить клумбу»). Уровни начинают ощущаться работой ради валюты, связь «уровень → награда» обесценивается.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691640"/>
            <a:ext cx="5486400" cy="1261872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DE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17920" y="1691640"/>
            <a:ext cx="82296" cy="1261872"/>
          </a:xfrm>
          <a:prstGeom prst="rect">
            <a:avLst/>
          </a:prstGeom>
          <a:solidFill>
            <a:srgbClr val="BE4F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55664" y="1783080"/>
            <a:ext cx="5120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1" i="0">
                <a:solidFill>
                  <a:srgbClr val="BE4F45"/>
                </a:solidFill>
                <a:latin typeface="Arial"/>
              </a:rPr>
              <a:t>2. Разрыв между рекламой и игрой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55664" y="2075688"/>
            <a:ext cx="5120640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400"/>
              </a:spcAft>
            </a:pPr>
            <a:r>
              <a:rPr sz="1050" b="0" i="0">
                <a:solidFill>
                  <a:srgbClr val="1F2A44"/>
                </a:solidFill>
                <a:latin typeface="Arial"/>
              </a:rPr>
              <a:t>Креативы с pull-the-pin не соответствуют core-геймплею (запрет ASA, 2020). Обманутые ожидания → отток новичков, урон доверию и рейтингу в сторах.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3081528"/>
            <a:ext cx="5486400" cy="1261872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DE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02920" y="3081528"/>
            <a:ext cx="82296" cy="1261872"/>
          </a:xfrm>
          <a:prstGeom prst="rect">
            <a:avLst/>
          </a:prstGeom>
          <a:solidFill>
            <a:srgbClr val="BE4F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0664" y="3172968"/>
            <a:ext cx="5120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1" i="0">
                <a:solidFill>
                  <a:srgbClr val="BE4F45"/>
                </a:solidFill>
                <a:latin typeface="Arial"/>
              </a:rPr>
              <a:t>3. Пики сложности + давление монетизации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0664" y="3465576"/>
            <a:ext cx="5120640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400"/>
              </a:spcAft>
            </a:pPr>
            <a:r>
              <a:rPr sz="1050" b="0" i="0">
                <a:solidFill>
                  <a:srgbClr val="1F2A44"/>
                </a:solidFill>
                <a:latin typeface="Arial"/>
              </a:rPr>
              <a:t>На средних и поздних уровнях сложность резко растёт синхронно с ростом офферов — читается игроками как «pay-to-win», источник негативных отзывов.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17920" y="3081528"/>
            <a:ext cx="5486400" cy="1261872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DE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17920" y="3081528"/>
            <a:ext cx="82296" cy="1261872"/>
          </a:xfrm>
          <a:prstGeom prst="rect">
            <a:avLst/>
          </a:prstGeom>
          <a:solidFill>
            <a:srgbClr val="BE4F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55664" y="3172968"/>
            <a:ext cx="5120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1" i="0">
                <a:solidFill>
                  <a:srgbClr val="BE4F45"/>
                </a:solidFill>
                <a:latin typeface="Arial"/>
              </a:rPr>
              <a:t>4. Перегруженный UX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55664" y="3465576"/>
            <a:ext cx="5120640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400"/>
              </a:spcAft>
            </a:pPr>
            <a:r>
              <a:rPr sz="1050" b="0" i="0">
                <a:solidFill>
                  <a:srgbClr val="1F2A44"/>
                </a:solidFill>
                <a:latin typeface="Arial"/>
              </a:rPr>
              <a:t>Каскад попапов с офферами на входе, много параллельных валют и событий — высокая когнитивная нагрузка до первого хода.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2920" y="4471416"/>
            <a:ext cx="5486400" cy="1261872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DE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02920" y="4471416"/>
            <a:ext cx="82296" cy="1261872"/>
          </a:xfrm>
          <a:prstGeom prst="rect">
            <a:avLst/>
          </a:prstGeom>
          <a:solidFill>
            <a:srgbClr val="BE4F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40664" y="4562856"/>
            <a:ext cx="5120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1" i="0">
                <a:solidFill>
                  <a:srgbClr val="BE4F45"/>
                </a:solidFill>
                <a:latin typeface="Arial"/>
              </a:rPr>
              <a:t>5. Темп core ниже конкурентов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0664" y="4855464"/>
            <a:ext cx="5120640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400"/>
              </a:spcAft>
            </a:pPr>
            <a:r>
              <a:rPr sz="1050" b="0" i="0">
                <a:solidFill>
                  <a:srgbClr val="1F2A44"/>
                </a:solidFill>
                <a:latin typeface="Arial"/>
              </a:rPr>
              <a:t>Медленные анимации и «количественные» пауэр-апы делают сессию менее динамичной на фоне Royal Match.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217920" y="4471416"/>
            <a:ext cx="5486400" cy="1261872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DE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217920" y="4471416"/>
            <a:ext cx="82296" cy="1261872"/>
          </a:xfrm>
          <a:prstGeom prst="rect">
            <a:avLst/>
          </a:prstGeom>
          <a:solidFill>
            <a:srgbClr val="BE4F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55664" y="4562856"/>
            <a:ext cx="5120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1" i="0">
                <a:solidFill>
                  <a:srgbClr val="BE4F45"/>
                </a:solidFill>
                <a:latin typeface="Arial"/>
              </a:rPr>
              <a:t>6. Эрозия доверия в мелочах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55664" y="4855464"/>
            <a:ext cx="5120640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400"/>
              </a:spcAft>
            </a:pPr>
            <a:r>
              <a:rPr sz="1050" b="0" i="0">
                <a:solidFill>
                  <a:srgbClr val="1F2A44"/>
                </a:solidFill>
                <a:latin typeface="Arial"/>
              </a:rPr>
              <a:t>Нет бесплатного шаффла и подобных «жестов уважения», которые стали новым стандартом жанра.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02920" y="5897880"/>
            <a:ext cx="11201400" cy="457200"/>
          </a:xfrm>
          <a:prstGeom prst="roundRect">
            <a:avLst>
              <a:gd name="adj" fmla="val 14000"/>
            </a:avLst>
          </a:prstGeom>
          <a:solidFill>
            <a:srgbClr val="F8E7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02920" y="5897880"/>
            <a:ext cx="82296" cy="457200"/>
          </a:xfrm>
          <a:prstGeom prst="rect">
            <a:avLst/>
          </a:prstGeom>
          <a:solidFill>
            <a:srgbClr val="BE4F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58952" y="5897880"/>
            <a:ext cx="10744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300" b="1" i="0">
                <a:solidFill>
                  <a:srgbClr val="BE4F45"/>
                </a:solidFill>
                <a:latin typeface="Arial"/>
              </a:rPr>
              <a:t>!  </a:t>
            </a:r>
            <a:r>
              <a:rPr sz="1250" b="0" i="0">
                <a:solidFill>
                  <a:srgbClr val="1F2A44"/>
                </a:solidFill>
                <a:latin typeface="Arial"/>
              </a:rPr>
              <a:t>Общий корень: игра давит на игрока там, где Royal Match инвестирует в доверие.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02920" y="64739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5A6478"/>
                </a:solidFill>
                <a:latin typeface="Arial"/>
              </a:rPr>
              <a:t>Gardenscapes × Royal Match — сравнительный анализ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292840" y="6473952"/>
            <a:ext cx="411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900" b="1" i="0">
                <a:solidFill>
                  <a:srgbClr val="5A6478"/>
                </a:solidFill>
                <a:latin typeface="Arial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384048"/>
            <a:ext cx="1091793" cy="310896"/>
          </a:xfrm>
          <a:prstGeom prst="roundRect">
            <a:avLst>
              <a:gd name="adj" fmla="val 50000"/>
            </a:avLst>
          </a:prstGeom>
          <a:solidFill>
            <a:srgbClr val="2F8F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73152" rIns="73152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ВОПРОС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04672"/>
            <a:ext cx="111556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700" b="1" i="0">
                <a:solidFill>
                  <a:srgbClr val="1F2A44"/>
                </a:solidFill>
                <a:latin typeface="Arial"/>
              </a:rPr>
              <a:t>Что и как улучшить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1481328"/>
            <a:ext cx="1234440" cy="38100"/>
          </a:xfrm>
          <a:prstGeom prst="rect">
            <a:avLst/>
          </a:prstGeom>
          <a:solidFill>
            <a:srgbClr val="2F8F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737360"/>
          <a:ext cx="11201400" cy="3730752"/>
        </p:xfrm>
        <a:graphic>
          <a:graphicData uri="http://schemas.openxmlformats.org/drawingml/2006/table">
            <a:tbl>
              <a:tblPr/>
              <a:tblGrid>
                <a:gridCol w="2103120"/>
                <a:gridCol w="5806440"/>
                <a:gridCol w="3291840"/>
              </a:tblGrid>
              <a:tr h="621792"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150" b="1" i="0">
                          <a:solidFill>
                            <a:srgbClr val="FFFFFF"/>
                          </a:solidFill>
                          <a:latin typeface="Arial"/>
                        </a:rPr>
                        <a:t>Проблема</a:t>
                      </a:r>
                    </a:p>
                  </a:txBody>
                  <a:tcPr anchor="ctr" marL="91440" marR="91440" marT="41148" marB="41148">
                    <a:solidFill>
                      <a:srgbClr val="BE4F4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150" b="1" i="0">
                          <a:solidFill>
                            <a:srgbClr val="FFFFFF"/>
                          </a:solidFill>
                          <a:latin typeface="Arial"/>
                        </a:rPr>
                        <a:t>Решение</a:t>
                      </a:r>
                    </a:p>
                  </a:txBody>
                  <a:tcPr anchor="ctr" marL="91440" marR="91440" marT="41148" marB="41148">
                    <a:solidFill>
                      <a:srgbClr val="2F8F4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150" b="1" i="0">
                          <a:solidFill>
                            <a:srgbClr val="FFFFFF"/>
                          </a:solidFill>
                          <a:latin typeface="Arial"/>
                        </a:rPr>
                        <a:t>Ожидаемый эффект</a:t>
                      </a:r>
                    </a:p>
                  </a:txBody>
                  <a:tcPr anchor="ctr" marL="91440" marR="91440" marT="41148" marB="41148">
                    <a:solidFill>
                      <a:srgbClr val="1F2A44"/>
                    </a:solidFill>
                  </a:tcPr>
                </a:tc>
              </a:tr>
              <a:tr h="621792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100" b="0" i="0">
                          <a:solidFill>
                            <a:srgbClr val="1F2A44"/>
                          </a:solidFill>
                          <a:latin typeface="Arial"/>
                        </a:rPr>
                        <a:t>Мета-гринд</a:t>
                      </a:r>
                    </a:p>
                  </a:txBody>
                  <a:tcPr anchor="ctr" marL="91440" marR="91440" marT="41148" marB="4114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100" b="0" i="0">
                          <a:solidFill>
                            <a:srgbClr val="1F2A44"/>
                          </a:solidFill>
                          <a:latin typeface="Arial"/>
                        </a:rPr>
                        <a:t>Сжать стоимость задач в начале «эпизода»; добавить milestone-задачи и значимые развилки декора и сюжета</a:t>
                      </a:r>
                    </a:p>
                  </a:txBody>
                  <a:tcPr anchor="ctr" marL="91440" marR="91440" marT="41148" marB="4114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100" b="0" i="0">
                          <a:solidFill>
                            <a:srgbClr val="1F2A44"/>
                          </a:solidFill>
                          <a:latin typeface="Arial"/>
                        </a:rPr>
                        <a:t>D7 / D30 retention, время до дропа меты</a:t>
                      </a:r>
                    </a:p>
                  </a:txBody>
                  <a:tcPr anchor="ctr" marL="91440" marR="91440" marT="41148" marB="41148">
                    <a:solidFill>
                      <a:srgbClr val="FFFFFF"/>
                    </a:solidFill>
                  </a:tcPr>
                </a:tc>
              </a:tr>
              <a:tr h="621792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100" b="0" i="0">
                          <a:solidFill>
                            <a:srgbClr val="1F2A44"/>
                          </a:solidFill>
                          <a:latin typeface="Arial"/>
                        </a:rPr>
                        <a:t>Разрыв рекламы и игры</a:t>
                      </a:r>
                    </a:p>
                  </a:txBody>
                  <a:tcPr anchor="ctr" marL="91440" marR="91440" marT="41148" marB="41148">
                    <a:solidFill>
                      <a:srgbClr val="F1EE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100" b="0" i="0">
                          <a:solidFill>
                            <a:srgbClr val="1F2A44"/>
                          </a:solidFill>
                          <a:latin typeface="Arial"/>
                        </a:rPr>
                        <a:t>Встроить механики из креативов (pull-the-pin) как регулярный мини-режим; выровнять креативы с геймплеем</a:t>
                      </a:r>
                    </a:p>
                  </a:txBody>
                  <a:tcPr anchor="ctr" marL="91440" marR="91440" marT="41148" marB="41148">
                    <a:solidFill>
                      <a:srgbClr val="F1EE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100" b="0" i="0">
                          <a:solidFill>
                            <a:srgbClr val="1F2A44"/>
                          </a:solidFill>
                          <a:latin typeface="Arial"/>
                        </a:rPr>
                        <a:t>Конверсия install → D1, рейтинг в сторах</a:t>
                      </a:r>
                    </a:p>
                  </a:txBody>
                  <a:tcPr anchor="ctr" marL="91440" marR="91440" marT="41148" marB="41148">
                    <a:solidFill>
                      <a:srgbClr val="F1EEE7"/>
                    </a:solidFill>
                  </a:tcPr>
                </a:tc>
              </a:tr>
              <a:tr h="621792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100" b="0" i="0">
                          <a:solidFill>
                            <a:srgbClr val="1F2A44"/>
                          </a:solidFill>
                          <a:latin typeface="Arial"/>
                        </a:rPr>
                        <a:t>Пики сложности</a:t>
                      </a:r>
                    </a:p>
                  </a:txBody>
                  <a:tcPr anchor="ctr" marL="91440" marR="91440" marT="41148" marB="4114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100" b="0" i="0">
                          <a:solidFill>
                            <a:srgbClr val="1F2A44"/>
                          </a:solidFill>
                          <a:latin typeface="Arial"/>
                        </a:rPr>
                        <a:t>Осцилляция сложности по модели RM; win-streak с бонусом на старте уровня как награда за серию</a:t>
                      </a:r>
                    </a:p>
                  </a:txBody>
                  <a:tcPr anchor="ctr" marL="91440" marR="91440" marT="41148" marB="4114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100" b="0" i="0">
                          <a:solidFill>
                            <a:srgbClr val="1F2A44"/>
                          </a:solidFill>
                          <a:latin typeface="Arial"/>
                        </a:rPr>
                        <a:t>Длина сессии, конверсия near-miss без роста churn</a:t>
                      </a:r>
                    </a:p>
                  </a:txBody>
                  <a:tcPr anchor="ctr" marL="91440" marR="91440" marT="41148" marB="41148">
                    <a:solidFill>
                      <a:srgbClr val="FFFFFF"/>
                    </a:solidFill>
                  </a:tcPr>
                </a:tc>
              </a:tr>
              <a:tr h="621792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100" b="0" i="0">
                          <a:solidFill>
                            <a:srgbClr val="1F2A44"/>
                          </a:solidFill>
                          <a:latin typeface="Arial"/>
                        </a:rPr>
                        <a:t>Перегруженный UX</a:t>
                      </a:r>
                    </a:p>
                  </a:txBody>
                  <a:tcPr anchor="ctr" marL="91440" marR="91440" marT="41148" marB="41148">
                    <a:solidFill>
                      <a:srgbClr val="F1EE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100" b="0" i="0">
                          <a:solidFill>
                            <a:srgbClr val="1F2A44"/>
                          </a:solidFill>
                          <a:latin typeface="Arial"/>
                        </a:rPr>
                        <a:t>Контекстные офферы вместо каскада попапов; единый хаб событий</a:t>
                      </a:r>
                    </a:p>
                  </a:txBody>
                  <a:tcPr anchor="ctr" marL="91440" marR="91440" marT="41148" marB="41148">
                    <a:solidFill>
                      <a:srgbClr val="F1EE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100" b="0" i="0">
                          <a:solidFill>
                            <a:srgbClr val="1F2A44"/>
                          </a:solidFill>
                          <a:latin typeface="Arial"/>
                        </a:rPr>
                        <a:t>Отказы в первые 60 сек сессии</a:t>
                      </a:r>
                    </a:p>
                  </a:txBody>
                  <a:tcPr anchor="ctr" marL="91440" marR="91440" marT="41148" marB="41148">
                    <a:solidFill>
                      <a:srgbClr val="F1EEE7"/>
                    </a:solidFill>
                  </a:tcPr>
                </a:tc>
              </a:tr>
              <a:tr h="621792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100" b="0" i="0">
                          <a:solidFill>
                            <a:srgbClr val="1F2A44"/>
                          </a:solidFill>
                          <a:latin typeface="Arial"/>
                        </a:rPr>
                        <a:t>Темп core</a:t>
                      </a:r>
                    </a:p>
                  </a:txBody>
                  <a:tcPr anchor="ctr" marL="91440" marR="91440" marT="41148" marB="4114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100" b="0" i="0">
                          <a:solidFill>
                            <a:srgbClr val="1F2A44"/>
                          </a:solidFill>
                          <a:latin typeface="Arial"/>
                        </a:rPr>
                        <a:t>Ускорить анимации; бесплатный шаффл при отсутствии ходов</a:t>
                      </a:r>
                    </a:p>
                  </a:txBody>
                  <a:tcPr anchor="ctr" marL="91440" marR="91440" marT="41148" marB="4114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100" b="0" i="0">
                          <a:solidFill>
                            <a:srgbClr val="1F2A44"/>
                          </a:solidFill>
                          <a:latin typeface="Arial"/>
                        </a:rPr>
                        <a:t>Уровней за сессию, тон отзывов</a:t>
                      </a:r>
                    </a:p>
                  </a:txBody>
                  <a:tcPr anchor="ctr" marL="91440" marR="91440" marT="41148" marB="4114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502920" y="5806440"/>
            <a:ext cx="11201400" cy="566928"/>
          </a:xfrm>
          <a:prstGeom prst="roundRect">
            <a:avLst>
              <a:gd name="adj" fmla="val 14000"/>
            </a:avLst>
          </a:prstGeom>
          <a:solidFill>
            <a:srgbClr val="E3F1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5806440"/>
            <a:ext cx="82296" cy="566928"/>
          </a:xfrm>
          <a:prstGeom prst="rect">
            <a:avLst/>
          </a:prstGeom>
          <a:solidFill>
            <a:srgbClr val="2F8F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58952" y="5806440"/>
            <a:ext cx="107442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300" b="1" i="0">
                <a:solidFill>
                  <a:srgbClr val="2F8F4E"/>
                </a:solidFill>
                <a:latin typeface="Arial"/>
              </a:rPr>
              <a:t>→  </a:t>
            </a:r>
            <a:r>
              <a:rPr sz="1200" b="0" i="0">
                <a:solidFill>
                  <a:srgbClr val="1F2A44"/>
                </a:solidFill>
                <a:latin typeface="Arial"/>
              </a:rPr>
              <a:t>Принцип: не копировать Royal Match, а вернуть Gardenscapes его силу — осмысленную мету, убрав источники фрустрации вокруг неё.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4739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5A6478"/>
                </a:solidFill>
                <a:latin typeface="Arial"/>
              </a:rPr>
              <a:t>Gardenscapes × Royal Match — сравнительный анализ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92840" y="6473952"/>
            <a:ext cx="411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900" b="1" i="0">
                <a:solidFill>
                  <a:srgbClr val="5A6478"/>
                </a:solidFill>
                <a:latin typeface="Arial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384048"/>
            <a:ext cx="2537460" cy="310896"/>
          </a:xfrm>
          <a:prstGeom prst="roundRect">
            <a:avLst>
              <a:gd name="adj" fmla="val 50000"/>
            </a:avLst>
          </a:prstGeom>
          <a:solidFill>
            <a:srgbClr val="2F8F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73152" rIns="73152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ВОПРОС 5 · ПЛАН ВНЕДРЕНИЯ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04672"/>
            <a:ext cx="111556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700" b="1" i="0">
                <a:solidFill>
                  <a:srgbClr val="1F2A44"/>
                </a:solidFill>
                <a:latin typeface="Arial"/>
              </a:rPr>
              <a:t>Приоритизация: impact / effort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1481328"/>
            <a:ext cx="1234440" cy="38100"/>
          </a:xfrm>
          <a:prstGeom prst="rect">
            <a:avLst/>
          </a:prstGeom>
          <a:solidFill>
            <a:srgbClr val="2F8F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02920" y="1783080"/>
            <a:ext cx="3611880" cy="3977639"/>
          </a:xfrm>
          <a:prstGeom prst="roundRect">
            <a:avLst>
              <a:gd name="adj" fmla="val 5000"/>
            </a:avLst>
          </a:prstGeom>
          <a:solidFill>
            <a:srgbClr val="E3F1E6"/>
          </a:solidFill>
          <a:ln w="9525">
            <a:solidFill>
              <a:srgbClr val="DE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31520" y="1993392"/>
            <a:ext cx="2103120" cy="329184"/>
          </a:xfrm>
          <a:prstGeom prst="roundRect">
            <a:avLst>
              <a:gd name="adj" fmla="val 50000"/>
            </a:avLst>
          </a:prstGeom>
          <a:solidFill>
            <a:srgbClr val="2F8F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73152" rIns="73152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QUICK WINS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8952" y="2514600"/>
            <a:ext cx="315468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1000"/>
              </a:spcAft>
            </a:pPr>
            <a:r>
              <a:rPr sz="1150" b="1" i="0">
                <a:solidFill>
                  <a:srgbClr val="2F8F4E"/>
                </a:solidFill>
                <a:latin typeface="Arial"/>
              </a:rPr>
              <a:t>▪  </a:t>
            </a:r>
            <a:r>
              <a:rPr sz="1150" b="1" i="0">
                <a:solidFill>
                  <a:srgbClr val="1F2A44"/>
                </a:solidFill>
                <a:latin typeface="Arial"/>
              </a:rPr>
              <a:t>Бесплатный шаффл</a:t>
            </a:r>
            <a:r>
              <a:rPr sz="1150" b="0" i="0">
                <a:solidFill>
                  <a:srgbClr val="1F2A44"/>
                </a:solidFill>
                <a:latin typeface="Arial"/>
              </a:rPr>
              <a:t> — маленькая фича — большой сигнал доверия</a:t>
            </a:r>
          </a:p>
          <a:p>
            <a:pPr algn="l">
              <a:lnSpc>
                <a:spcPct val="104000"/>
              </a:lnSpc>
              <a:spcAft>
                <a:spcPts val="1000"/>
              </a:spcAft>
            </a:pPr>
            <a:r>
              <a:rPr sz="1150" b="1" i="0">
                <a:solidFill>
                  <a:srgbClr val="2F8F4E"/>
                </a:solidFill>
                <a:latin typeface="Arial"/>
              </a:rPr>
              <a:t>▪  </a:t>
            </a:r>
            <a:r>
              <a:rPr sz="1150" b="1" i="0">
                <a:solidFill>
                  <a:srgbClr val="1F2A44"/>
                </a:solidFill>
                <a:latin typeface="Arial"/>
              </a:rPr>
              <a:t>Ускорение анимаций core</a:t>
            </a:r>
            <a:r>
              <a:rPr sz="1150" b="0" i="0">
                <a:solidFill>
                  <a:srgbClr val="1F2A44"/>
                </a:solidFill>
                <a:latin typeface="Arial"/>
              </a:rPr>
              <a:t> — конфиг + полировка, без изменения баланса</a:t>
            </a:r>
          </a:p>
          <a:p>
            <a:pPr algn="l">
              <a:lnSpc>
                <a:spcPct val="104000"/>
              </a:lnSpc>
              <a:spcAft>
                <a:spcPts val="1000"/>
              </a:spcAft>
            </a:pPr>
            <a:r>
              <a:rPr sz="1150" b="1" i="0">
                <a:solidFill>
                  <a:srgbClr val="2F8F4E"/>
                </a:solidFill>
                <a:latin typeface="Arial"/>
              </a:rPr>
              <a:t>▪  </a:t>
            </a:r>
            <a:r>
              <a:rPr sz="1150" b="1" i="0">
                <a:solidFill>
                  <a:srgbClr val="1F2A44"/>
                </a:solidFill>
                <a:latin typeface="Arial"/>
              </a:rPr>
              <a:t>Контекстные офферы</a:t>
            </a:r>
            <a:r>
              <a:rPr sz="1150" b="0" i="0">
                <a:solidFill>
                  <a:srgbClr val="1F2A44"/>
                </a:solidFill>
                <a:latin typeface="Arial"/>
              </a:rPr>
              <a:t> — правила показа вместо каскада попапов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97680" y="1783080"/>
            <a:ext cx="3611880" cy="3977639"/>
          </a:xfrm>
          <a:prstGeom prst="roundRect">
            <a:avLst>
              <a:gd name="adj" fmla="val 5000"/>
            </a:avLst>
          </a:prstGeom>
          <a:solidFill>
            <a:srgbClr val="FAF0DC"/>
          </a:solidFill>
          <a:ln w="9525">
            <a:solidFill>
              <a:srgbClr val="DE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526280" y="1993392"/>
            <a:ext cx="2103120" cy="329184"/>
          </a:xfrm>
          <a:prstGeom prst="roundRect">
            <a:avLst>
              <a:gd name="adj" fmla="val 50000"/>
            </a:avLst>
          </a:prstGeom>
          <a:solidFill>
            <a:srgbClr val="E0A2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73152" rIns="73152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СРЕДНИЙ ГОРИЗОНТ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53712" y="2514600"/>
            <a:ext cx="315468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1000"/>
              </a:spcAft>
            </a:pPr>
            <a:r>
              <a:rPr sz="1150" b="1" i="0">
                <a:solidFill>
                  <a:srgbClr val="E0A238"/>
                </a:solidFill>
                <a:latin typeface="Arial"/>
              </a:rPr>
              <a:t>▪  </a:t>
            </a:r>
            <a:r>
              <a:rPr sz="1150" b="1" i="0">
                <a:solidFill>
                  <a:srgbClr val="1F2A44"/>
                </a:solidFill>
                <a:latin typeface="Arial"/>
              </a:rPr>
              <a:t>Win-streak с наградой на старте</a:t>
            </a:r>
            <a:r>
              <a:rPr sz="1150" b="0" i="0">
                <a:solidFill>
                  <a:srgbClr val="1F2A44"/>
                </a:solidFill>
                <a:latin typeface="Arial"/>
              </a:rPr>
              <a:t> — требует баланса экономики и A/B-теста</a:t>
            </a:r>
          </a:p>
          <a:p>
            <a:pPr algn="l">
              <a:lnSpc>
                <a:spcPct val="104000"/>
              </a:lnSpc>
              <a:spcAft>
                <a:spcPts val="1000"/>
              </a:spcAft>
            </a:pPr>
            <a:r>
              <a:rPr sz="1150" b="1" i="0">
                <a:solidFill>
                  <a:srgbClr val="E0A238"/>
                </a:solidFill>
                <a:latin typeface="Arial"/>
              </a:rPr>
              <a:t>▪  </a:t>
            </a:r>
            <a:r>
              <a:rPr sz="1150" b="1" i="0">
                <a:solidFill>
                  <a:srgbClr val="1F2A44"/>
                </a:solidFill>
                <a:latin typeface="Arial"/>
              </a:rPr>
              <a:t>Единый хаб событий</a:t>
            </a:r>
            <a:r>
              <a:rPr sz="1150" b="0" i="0">
                <a:solidFill>
                  <a:srgbClr val="1F2A44"/>
                </a:solidFill>
                <a:latin typeface="Arial"/>
              </a:rPr>
              <a:t> — UX-редизайн главного экрана</a:t>
            </a:r>
          </a:p>
          <a:p>
            <a:pPr algn="l">
              <a:lnSpc>
                <a:spcPct val="104000"/>
              </a:lnSpc>
              <a:spcAft>
                <a:spcPts val="1000"/>
              </a:spcAft>
            </a:pPr>
            <a:r>
              <a:rPr sz="1150" b="1" i="0">
                <a:solidFill>
                  <a:srgbClr val="E0A238"/>
                </a:solidFill>
                <a:latin typeface="Arial"/>
              </a:rPr>
              <a:t>▪  </a:t>
            </a:r>
            <a:r>
              <a:rPr sz="1150" b="1" i="0">
                <a:solidFill>
                  <a:srgbClr val="1F2A44"/>
                </a:solidFill>
                <a:latin typeface="Arial"/>
              </a:rPr>
              <a:t>Пересборка кривой сложности</a:t>
            </a:r>
            <a:r>
              <a:rPr sz="1150" b="0" i="0">
                <a:solidFill>
                  <a:srgbClr val="1F2A44"/>
                </a:solidFill>
                <a:latin typeface="Arial"/>
              </a:rPr>
              <a:t> — данные по churn-уровням уже есть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92440" y="1783080"/>
            <a:ext cx="3611880" cy="3977639"/>
          </a:xfrm>
          <a:prstGeom prst="roundRect">
            <a:avLst>
              <a:gd name="adj" fmla="val 5000"/>
            </a:avLst>
          </a:prstGeom>
          <a:solidFill>
            <a:srgbClr val="E6EDFA"/>
          </a:solidFill>
          <a:ln w="9525">
            <a:solidFill>
              <a:srgbClr val="DE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8321040" y="1993392"/>
            <a:ext cx="2103120" cy="329184"/>
          </a:xfrm>
          <a:prstGeom prst="roundRect">
            <a:avLst>
              <a:gd name="adj" fmla="val 50000"/>
            </a:avLst>
          </a:prstGeom>
          <a:solidFill>
            <a:srgbClr val="2D5F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73152" rIns="73152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СТРАТЕГИЧЕСКИЕ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48472" y="2514600"/>
            <a:ext cx="315468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1000"/>
              </a:spcAft>
            </a:pPr>
            <a:r>
              <a:rPr sz="1150" b="1" i="0">
                <a:solidFill>
                  <a:srgbClr val="2D5FC1"/>
                </a:solidFill>
                <a:latin typeface="Arial"/>
              </a:rPr>
              <a:t>▪  </a:t>
            </a:r>
            <a:r>
              <a:rPr sz="1150" b="1" i="0">
                <a:solidFill>
                  <a:srgbClr val="1F2A44"/>
                </a:solidFill>
                <a:latin typeface="Arial"/>
              </a:rPr>
              <a:t>Пейсинг меты и развилки сюжета</a:t>
            </a:r>
            <a:r>
              <a:rPr sz="1150" b="0" i="0">
                <a:solidFill>
                  <a:srgbClr val="1F2A44"/>
                </a:solidFill>
                <a:latin typeface="Arial"/>
              </a:rPr>
              <a:t> — затрагивает контент-пайплайн</a:t>
            </a:r>
          </a:p>
          <a:p>
            <a:pPr algn="l">
              <a:lnSpc>
                <a:spcPct val="104000"/>
              </a:lnSpc>
              <a:spcAft>
                <a:spcPts val="1000"/>
              </a:spcAft>
            </a:pPr>
            <a:r>
              <a:rPr sz="1150" b="1" i="0">
                <a:solidFill>
                  <a:srgbClr val="2D5FC1"/>
                </a:solidFill>
                <a:latin typeface="Arial"/>
              </a:rPr>
              <a:t>▪  </a:t>
            </a:r>
            <a:r>
              <a:rPr sz="1150" b="1" i="0">
                <a:solidFill>
                  <a:srgbClr val="1F2A44"/>
                </a:solidFill>
                <a:latin typeface="Arial"/>
              </a:rPr>
              <a:t>Выравнивание маркетинга и геймплея</a:t>
            </a:r>
            <a:r>
              <a:rPr sz="1150" b="0" i="0">
                <a:solidFill>
                  <a:srgbClr val="1F2A44"/>
                </a:solidFill>
                <a:latin typeface="Arial"/>
              </a:rPr>
              <a:t> — мини-режимы из креативов + новые креативы; долгий возврат доверия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5943600"/>
            <a:ext cx="11201400" cy="502920"/>
          </a:xfrm>
          <a:prstGeom prst="roundRect">
            <a:avLst>
              <a:gd name="adj" fmla="val 14000"/>
            </a:avLst>
          </a:prstGeom>
          <a:solidFill>
            <a:srgbClr val="FAF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02920" y="5943600"/>
            <a:ext cx="82296" cy="502920"/>
          </a:xfrm>
          <a:prstGeom prst="rect">
            <a:avLst/>
          </a:prstGeom>
          <a:solidFill>
            <a:srgbClr val="E0A2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58952" y="5943600"/>
            <a:ext cx="1074420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300" b="1" i="0">
                <a:solidFill>
                  <a:srgbClr val="E0A238"/>
                </a:solidFill>
                <a:latin typeface="Arial"/>
              </a:rPr>
              <a:t>→  </a:t>
            </a:r>
            <a:r>
              <a:rPr sz="1250" b="0" i="0">
                <a:solidFill>
                  <a:srgbClr val="1F2A44"/>
                </a:solidFill>
                <a:latin typeface="Arial"/>
              </a:rPr>
              <a:t>Каждое изменение — через A/B-тест: подход самих Dream Games, доказавший, что даже «лёгкая мета» должна быть проверена данными, а не вкусом.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64739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5A6478"/>
                </a:solidFill>
                <a:latin typeface="Arial"/>
              </a:rPr>
              <a:t>Gardenscapes × Royal Match — сравнительный анализ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292840" y="6473952"/>
            <a:ext cx="411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900" b="1" i="0">
                <a:solidFill>
                  <a:srgbClr val="5A6478"/>
                </a:solidFill>
                <a:latin typeface="Arial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384048"/>
            <a:ext cx="751636" cy="310896"/>
          </a:xfrm>
          <a:prstGeom prst="roundRect">
            <a:avLst>
              <a:gd name="adj" fmla="val 50000"/>
            </a:avLst>
          </a:prstGeom>
          <a:solidFill>
            <a:srgbClr val="E0A2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73152" rIns="73152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ИТОГ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04672"/>
            <a:ext cx="111556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700" b="1" i="0">
                <a:solidFill>
                  <a:srgbClr val="1F2A44"/>
                </a:solidFill>
                <a:latin typeface="Arial"/>
              </a:rPr>
              <a:t>Выводы и метрики контроля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1481328"/>
            <a:ext cx="1234440" cy="38100"/>
          </a:xfrm>
          <a:prstGeom prst="rect">
            <a:avLst/>
          </a:prstGeom>
          <a:solidFill>
            <a:srgbClr val="E0A2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783080"/>
            <a:ext cx="11155680" cy="2651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1200"/>
              </a:spcAft>
            </a:pPr>
            <a:r>
              <a:rPr sz="1400" b="1" i="0">
                <a:solidFill>
                  <a:srgbClr val="E0A238"/>
                </a:solidFill>
                <a:latin typeface="Arial"/>
              </a:rPr>
              <a:t>▪  </a:t>
            </a:r>
            <a:r>
              <a:rPr sz="1400" b="1" i="0">
                <a:solidFill>
                  <a:srgbClr val="1F2A44"/>
                </a:solidFill>
                <a:latin typeface="Arial"/>
              </a:rPr>
              <a:t>Royal Match выигрывает «здесь и сейчас»</a:t>
            </a:r>
            <a:r>
              <a:rPr sz="1400" b="0" i="0">
                <a:solidFill>
                  <a:srgbClr val="1F2A44"/>
                </a:solidFill>
                <a:latin typeface="Arial"/>
              </a:rPr>
              <a:t> — темп core, win-streak и дизайн доверия дают лучшую сессионную динамику и конверсию.</a:t>
            </a:r>
          </a:p>
          <a:p>
            <a:pPr algn="l">
              <a:lnSpc>
                <a:spcPct val="104000"/>
              </a:lnSpc>
              <a:spcAft>
                <a:spcPts val="1200"/>
              </a:spcAft>
            </a:pPr>
            <a:r>
              <a:rPr sz="1400" b="1" i="0">
                <a:solidFill>
                  <a:srgbClr val="E0A238"/>
                </a:solidFill>
                <a:latin typeface="Arial"/>
              </a:rPr>
              <a:t>▪  </a:t>
            </a:r>
            <a:r>
              <a:rPr sz="1400" b="1" i="0">
                <a:solidFill>
                  <a:srgbClr val="1F2A44"/>
                </a:solidFill>
                <a:latin typeface="Arial"/>
              </a:rPr>
              <a:t>Gardenscapes сильнее в эмоциональной привязке</a:t>
            </a:r>
            <a:r>
              <a:rPr sz="1400" b="0" i="0">
                <a:solidFill>
                  <a:srgbClr val="1F2A44"/>
                </a:solidFill>
                <a:latin typeface="Arial"/>
              </a:rPr>
              <a:t> — мета и сюжет — уникальный актив, который Royal Match сознательно не стал копировать.</a:t>
            </a:r>
          </a:p>
          <a:p>
            <a:pPr algn="l">
              <a:lnSpc>
                <a:spcPct val="104000"/>
              </a:lnSpc>
              <a:spcAft>
                <a:spcPts val="1200"/>
              </a:spcAft>
            </a:pPr>
            <a:r>
              <a:rPr sz="1400" b="1" i="0">
                <a:solidFill>
                  <a:srgbClr val="E0A238"/>
                </a:solidFill>
                <a:latin typeface="Arial"/>
              </a:rPr>
              <a:t>▪  </a:t>
            </a:r>
            <a:r>
              <a:rPr sz="1400" b="1" i="0">
                <a:solidFill>
                  <a:srgbClr val="1F2A44"/>
                </a:solidFill>
                <a:latin typeface="Arial"/>
              </a:rPr>
              <a:t>Главные точки роста Gardenscapes</a:t>
            </a:r>
            <a:r>
              <a:rPr sz="1400" b="0" i="0">
                <a:solidFill>
                  <a:srgbClr val="1F2A44"/>
                </a:solidFill>
                <a:latin typeface="Arial"/>
              </a:rPr>
              <a:t> — пейсинг меты, честность к игроку (маркетинг, шаффл, офферы) и темп core-геймплея.</a:t>
            </a:r>
          </a:p>
          <a:p>
            <a:pPr algn="l">
              <a:lnSpc>
                <a:spcPct val="104000"/>
              </a:lnSpc>
              <a:spcAft>
                <a:spcPts val="1200"/>
              </a:spcAft>
            </a:pPr>
            <a:r>
              <a:rPr sz="1400" b="1" i="0">
                <a:solidFill>
                  <a:srgbClr val="E0A238"/>
                </a:solidFill>
                <a:latin typeface="Arial"/>
              </a:rPr>
              <a:t>▪  </a:t>
            </a:r>
            <a:r>
              <a:rPr sz="1400" b="1" i="0">
                <a:solidFill>
                  <a:srgbClr val="1F2A44"/>
                </a:solidFill>
                <a:latin typeface="Arial"/>
              </a:rPr>
              <a:t>Философия изменений</a:t>
            </a:r>
            <a:r>
              <a:rPr sz="1400" b="0" i="0">
                <a:solidFill>
                  <a:srgbClr val="1F2A44"/>
                </a:solidFill>
                <a:latin typeface="Arial"/>
              </a:rPr>
              <a:t> — не догонять конкурента по фичам, а убрать фрустрацию вокруг своей главной силы — сада.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4434840"/>
            <a:ext cx="11201400" cy="1417320"/>
          </a:xfrm>
          <a:prstGeom prst="roundRect">
            <a:avLst>
              <a:gd name="adj" fmla="val 7000"/>
            </a:avLst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4617720"/>
            <a:ext cx="10607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E0A238"/>
                </a:solidFill>
                <a:latin typeface="Arial"/>
              </a:rPr>
              <a:t>KPI ДЛЯ МОНИТОРИНГА ИЗМЕНЕНИЙ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5029200"/>
            <a:ext cx="2227478" cy="502920"/>
          </a:xfrm>
          <a:prstGeom prst="roundRect">
            <a:avLst>
              <a:gd name="adj" fmla="val 50000"/>
            </a:avLst>
          </a:prstGeom>
          <a:solidFill>
            <a:srgbClr val="2C3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73152" rIns="73152" tIns="0" bIns="0"/>
          <a:lstStyle/>
          <a:p>
            <a:pPr algn="ctr"/>
            <a:r>
              <a:rPr sz="1050" b="0">
                <a:solidFill>
                  <a:srgbClr val="FFFFFF"/>
                </a:solidFill>
                <a:latin typeface="Arial"/>
              </a:rPr>
              <a:t>D1 / D7 / D30 retention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141878" y="5029200"/>
            <a:ext cx="2152497" cy="502920"/>
          </a:xfrm>
          <a:prstGeom prst="roundRect">
            <a:avLst>
              <a:gd name="adj" fmla="val 50000"/>
            </a:avLst>
          </a:prstGeom>
          <a:solidFill>
            <a:srgbClr val="2C3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73152" rIns="73152" tIns="0" bIns="0"/>
          <a:lstStyle/>
          <a:p>
            <a:pPr algn="ctr"/>
            <a:r>
              <a:rPr sz="1050" b="0">
                <a:solidFill>
                  <a:srgbClr val="FFFFFF"/>
                </a:solidFill>
                <a:latin typeface="Arial"/>
              </a:rPr>
              <a:t>Длина и частота сессий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31535" y="5029200"/>
            <a:ext cx="1927555" cy="502920"/>
          </a:xfrm>
          <a:prstGeom prst="roundRect">
            <a:avLst>
              <a:gd name="adj" fmla="val 50000"/>
            </a:avLst>
          </a:prstGeom>
          <a:solidFill>
            <a:srgbClr val="2C3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73152" rIns="73152" tIns="0" bIns="0"/>
          <a:lstStyle/>
          <a:p>
            <a:pPr algn="ctr"/>
            <a:r>
              <a:rPr sz="1050" b="0">
                <a:solidFill>
                  <a:srgbClr val="FFFFFF"/>
                </a:solidFill>
                <a:latin typeface="Arial"/>
              </a:rPr>
              <a:t>Конверсия near-miss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496250" y="5029200"/>
            <a:ext cx="952804" cy="502920"/>
          </a:xfrm>
          <a:prstGeom prst="roundRect">
            <a:avLst>
              <a:gd name="adj" fmla="val 50000"/>
            </a:avLst>
          </a:prstGeom>
          <a:solidFill>
            <a:srgbClr val="2C3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73152" rIns="73152" tIns="0" bIns="0"/>
          <a:lstStyle/>
          <a:p>
            <a:pPr algn="ctr"/>
            <a:r>
              <a:rPr sz="1050" b="0">
                <a:solidFill>
                  <a:srgbClr val="FFFFFF"/>
                </a:solidFill>
                <a:latin typeface="Arial"/>
              </a:rPr>
              <a:t>ARPDAU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586214" y="5029200"/>
            <a:ext cx="1702612" cy="502920"/>
          </a:xfrm>
          <a:prstGeom prst="roundRect">
            <a:avLst>
              <a:gd name="adj" fmla="val 50000"/>
            </a:avLst>
          </a:prstGeom>
          <a:solidFill>
            <a:srgbClr val="2C3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73152" rIns="73152" tIns="0" bIns="0"/>
          <a:lstStyle/>
          <a:p>
            <a:pPr algn="ctr"/>
            <a:r>
              <a:rPr sz="1050" b="0">
                <a:solidFill>
                  <a:srgbClr val="FFFFFF"/>
                </a:solidFill>
                <a:latin typeface="Arial"/>
              </a:rPr>
              <a:t>Рейтинг в сторах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64739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5A6478"/>
                </a:solidFill>
                <a:latin typeface="Arial"/>
              </a:rPr>
              <a:t>Gardenscapes × Royal Match — сравнительный анализ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292840" y="6473952"/>
            <a:ext cx="411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900" b="1" i="0">
                <a:solidFill>
                  <a:srgbClr val="5A6478"/>
                </a:solidFill>
                <a:latin typeface="Arial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-1097280" y="5212080"/>
            <a:ext cx="14630400" cy="2377440"/>
          </a:xfrm>
          <a:prstGeom prst="rect">
            <a:avLst/>
          </a:prstGeom>
          <a:solidFill>
            <a:srgbClr val="2733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966960" y="-1097280"/>
            <a:ext cx="3474720" cy="3474720"/>
          </a:xfrm>
          <a:prstGeom prst="ellipse">
            <a:avLst/>
          </a:prstGeom>
          <a:solidFill>
            <a:srgbClr val="2733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554480"/>
            <a:ext cx="106070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4400" b="1" i="0">
                <a:solidFill>
                  <a:srgbClr val="FFFFFF"/>
                </a:solidFill>
                <a:latin typeface="Arial"/>
              </a:rPr>
              <a:t>Спасибо за внимание!</a:t>
            </a:r>
          </a:p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B9C3D9"/>
                </a:solidFill>
                <a:latin typeface="Arial"/>
              </a:rPr>
              <a:t>Готов(а) обсудить любой из разделов подробнее.</a:t>
            </a:r>
          </a:p>
        </p:txBody>
      </p:sp>
      <p:sp>
        <p:nvSpPr>
          <p:cNvPr id="6" name="Rectangle 5"/>
          <p:cNvSpPr/>
          <p:nvPr/>
        </p:nvSpPr>
        <p:spPr>
          <a:xfrm>
            <a:off x="795528" y="3063240"/>
            <a:ext cx="2011680" cy="38100"/>
          </a:xfrm>
          <a:prstGeom prst="rect">
            <a:avLst/>
          </a:prstGeom>
          <a:solidFill>
            <a:srgbClr val="E0A2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3383280"/>
            <a:ext cx="1060704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1" i="0">
                <a:solidFill>
                  <a:srgbClr val="E0A238"/>
                </a:solidFill>
                <a:latin typeface="Arial"/>
              </a:rPr>
              <a:t>ИСТОЧНИКИ И МАТЕРИАЛЫ</a:t>
            </a:r>
          </a:p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150" b="0" i="0">
                <a:solidFill>
                  <a:srgbClr val="9AA5C0"/>
                </a:solidFill>
                <a:latin typeface="Arial"/>
              </a:rPr>
              <a:t>Собственные игровые сессии в обеих играх · справочные центры Playrix и Dream Games (механики пауэр-апов)</a:t>
            </a:r>
          </a:p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150" b="0" i="0">
                <a:solidFill>
                  <a:srgbClr val="9AA5C0"/>
                </a:solidFill>
                <a:latin typeface="Arial"/>
              </a:rPr>
              <a:t>Naavik — разборы Royal Match и стратегии Dream Games · Sensor Tower — live-ops календарь Royal Match</a:t>
            </a:r>
          </a:p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150" b="0" i="0">
                <a:solidFill>
                  <a:srgbClr val="9AA5C0"/>
                </a:solidFill>
                <a:latin typeface="Arial"/>
              </a:rPr>
              <a:t>ASA / BBC — решение по рекламе Gardenscapes и Homescapes (2020) · агрегаторы отзывов игроков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5852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E99B5"/>
                </a:solidFill>
                <a:latin typeface="Arial"/>
              </a:rPr>
              <a:t>Кандидат: [Ваше имя]  ·  [email / telegram]  ·  тестовое задание Junior Game Designer, Playrix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739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5A6478"/>
                </a:solidFill>
                <a:latin typeface="Arial"/>
              </a:rPr>
              <a:t>Gardenscapes × Royal Match — сравнительный анализ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92840" y="6473952"/>
            <a:ext cx="411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900" b="1" i="0">
                <a:solidFill>
                  <a:srgbClr val="5A6478"/>
                </a:solidFill>
                <a:latin typeface="Arial"/>
              </a:rPr>
              <a:t>15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